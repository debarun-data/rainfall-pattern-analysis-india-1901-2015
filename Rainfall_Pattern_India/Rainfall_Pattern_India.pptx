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92EC2-A66A-4098-B3AF-FD4B183E5C7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8A103C-57AF-4F5A-9D28-E9583999AEEE}">
      <dgm:prSet phldrT="[Text]"/>
      <dgm:spPr>
        <a:ln>
          <a:solidFill>
            <a:schemeClr val="bg1"/>
          </a:solidFill>
        </a:ln>
      </dgm:spPr>
      <dgm:t>
        <a:bodyPr/>
        <a:lstStyle/>
        <a:p>
          <a:pPr algn="just">
            <a:buNone/>
          </a:pP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analyze rainfall patterns in India and understand regional as well as seasonal rainfall behavior.</a:t>
          </a:r>
          <a:endParaRPr lang="en-IN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73343B-5D75-4E05-AE1E-178EF51AA937}" type="parTrans" cxnId="{7C4160C1-F9BA-40BF-AFDF-473743686F7E}">
      <dgm:prSet/>
      <dgm:spPr/>
      <dgm:t>
        <a:bodyPr/>
        <a:lstStyle/>
        <a:p>
          <a:endParaRPr lang="en-IN"/>
        </a:p>
      </dgm:t>
    </dgm:pt>
    <dgm:pt modelId="{6E3B4939-296A-4719-9FAD-4895EDA71598}" type="sibTrans" cxnId="{7C4160C1-F9BA-40BF-AFDF-473743686F7E}">
      <dgm:prSet/>
      <dgm:spPr/>
      <dgm:t>
        <a:bodyPr/>
        <a:lstStyle/>
        <a:p>
          <a:endParaRPr lang="en-IN"/>
        </a:p>
      </dgm:t>
    </dgm:pt>
    <dgm:pt modelId="{2EF1E5F7-F4C9-4043-A3A7-1D02438B6E42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Which Indian subdivisions receive the highest and lowest annual rainfall?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5EB594-27B5-4305-AFDB-B133B923ED0D}" type="parTrans" cxnId="{1AE17BE9-426B-4F04-9BB3-AE7021532246}">
      <dgm:prSet/>
      <dgm:spPr/>
      <dgm:t>
        <a:bodyPr/>
        <a:lstStyle/>
        <a:p>
          <a:endParaRPr lang="en-IN"/>
        </a:p>
      </dgm:t>
    </dgm:pt>
    <dgm:pt modelId="{6DE59F0B-492C-4AC1-84C1-C25DA7077921}" type="sibTrans" cxnId="{1AE17BE9-426B-4F04-9BB3-AE7021532246}">
      <dgm:prSet/>
      <dgm:spPr/>
      <dgm:t>
        <a:bodyPr/>
        <a:lstStyle/>
        <a:p>
          <a:endParaRPr lang="en-IN"/>
        </a:p>
      </dgm:t>
    </dgm:pt>
    <dgm:pt modelId="{63E48927-4273-4CC2-852E-58464BDBC66F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How has rainfall changed across different decades in India?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DFD86D-6DF1-4C21-A285-2EB208576D04}" type="parTrans" cxnId="{13AB1CC0-631D-4283-90A5-46AFCEE25CF4}">
      <dgm:prSet/>
      <dgm:spPr/>
      <dgm:t>
        <a:bodyPr/>
        <a:lstStyle/>
        <a:p>
          <a:endParaRPr lang="en-IN"/>
        </a:p>
      </dgm:t>
    </dgm:pt>
    <dgm:pt modelId="{E41D760C-1E61-4499-A8DD-21C288214092}" type="sibTrans" cxnId="{13AB1CC0-631D-4283-90A5-46AFCEE25CF4}">
      <dgm:prSet/>
      <dgm:spPr/>
      <dgm:t>
        <a:bodyPr/>
        <a:lstStyle/>
        <a:p>
          <a:endParaRPr lang="en-IN"/>
        </a:p>
      </dgm:t>
    </dgm:pt>
    <dgm:pt modelId="{50438182-1A42-46B2-928B-C7B9FAA4D708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How strongly is India’s annual rainfall dependent on the monsoon season?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084483-615E-4199-BFEA-0989AF9E7ED2}" type="parTrans" cxnId="{388603EC-8D6C-45F1-B808-A003049C4C00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93D113EB-A2D0-4ACE-BF41-020958D4AA26}" type="sibTrans" cxnId="{388603EC-8D6C-45F1-B808-A003049C4C00}">
      <dgm:prSet/>
      <dgm:spPr/>
      <dgm:t>
        <a:bodyPr/>
        <a:lstStyle/>
        <a:p>
          <a:endParaRPr lang="en-IN"/>
        </a:p>
      </dgm:t>
    </dgm:pt>
    <dgm:pt modelId="{EC54008C-0AFA-48DF-9413-FB1E48C6652A}" type="pres">
      <dgm:prSet presAssocID="{F9792EC2-A66A-4098-B3AF-FD4B183E5C7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9F7E44-6E22-4293-981D-39120A890DA5}" type="pres">
      <dgm:prSet presAssocID="{6F8A103C-57AF-4F5A-9D28-E9583999AEEE}" presName="hierRoot1" presStyleCnt="0">
        <dgm:presLayoutVars>
          <dgm:hierBranch val="init"/>
        </dgm:presLayoutVars>
      </dgm:prSet>
      <dgm:spPr/>
    </dgm:pt>
    <dgm:pt modelId="{87C9A2CA-B8CB-4407-900D-80B143E9C5DA}" type="pres">
      <dgm:prSet presAssocID="{6F8A103C-57AF-4F5A-9D28-E9583999AEEE}" presName="rootComposite1" presStyleCnt="0"/>
      <dgm:spPr/>
    </dgm:pt>
    <dgm:pt modelId="{BAE657EB-BEBB-4D29-8078-B4DEFFB96230}" type="pres">
      <dgm:prSet presAssocID="{6F8A103C-57AF-4F5A-9D28-E9583999AEEE}" presName="rootText1" presStyleLbl="node0" presStyleIdx="0" presStyleCnt="1">
        <dgm:presLayoutVars>
          <dgm:chPref val="3"/>
        </dgm:presLayoutVars>
      </dgm:prSet>
      <dgm:spPr/>
    </dgm:pt>
    <dgm:pt modelId="{941EC9DC-DFC1-4521-9FF5-E13A4DA3239B}" type="pres">
      <dgm:prSet presAssocID="{6F8A103C-57AF-4F5A-9D28-E9583999AEEE}" presName="rootConnector1" presStyleLbl="node1" presStyleIdx="0" presStyleCnt="0"/>
      <dgm:spPr/>
    </dgm:pt>
    <dgm:pt modelId="{02D6D2A6-12C3-457B-8261-AC6089E2DB0D}" type="pres">
      <dgm:prSet presAssocID="{6F8A103C-57AF-4F5A-9D28-E9583999AEEE}" presName="hierChild2" presStyleCnt="0"/>
      <dgm:spPr/>
    </dgm:pt>
    <dgm:pt modelId="{F0FC56DC-06A3-43F8-9EC3-BDA15440E2E7}" type="pres">
      <dgm:prSet presAssocID="{4D5EB594-27B5-4305-AFDB-B133B923ED0D}" presName="Name64" presStyleLbl="parChTrans1D2" presStyleIdx="0" presStyleCnt="3"/>
      <dgm:spPr/>
    </dgm:pt>
    <dgm:pt modelId="{49CEBC0F-CC6F-4A13-93E1-3FC37BDC723C}" type="pres">
      <dgm:prSet presAssocID="{2EF1E5F7-F4C9-4043-A3A7-1D02438B6E42}" presName="hierRoot2" presStyleCnt="0">
        <dgm:presLayoutVars>
          <dgm:hierBranch val="init"/>
        </dgm:presLayoutVars>
      </dgm:prSet>
      <dgm:spPr/>
    </dgm:pt>
    <dgm:pt modelId="{CB38A71D-ADEA-4706-93B6-7665D972033E}" type="pres">
      <dgm:prSet presAssocID="{2EF1E5F7-F4C9-4043-A3A7-1D02438B6E42}" presName="rootComposite" presStyleCnt="0"/>
      <dgm:spPr/>
    </dgm:pt>
    <dgm:pt modelId="{1ABEFF8E-3D48-456A-9CE8-E2F23D1EA71B}" type="pres">
      <dgm:prSet presAssocID="{2EF1E5F7-F4C9-4043-A3A7-1D02438B6E42}" presName="rootText" presStyleLbl="node2" presStyleIdx="0" presStyleCnt="3">
        <dgm:presLayoutVars>
          <dgm:chPref val="3"/>
        </dgm:presLayoutVars>
      </dgm:prSet>
      <dgm:spPr/>
    </dgm:pt>
    <dgm:pt modelId="{F2976304-5F57-4958-AAA4-C1E5632EAB44}" type="pres">
      <dgm:prSet presAssocID="{2EF1E5F7-F4C9-4043-A3A7-1D02438B6E42}" presName="rootConnector" presStyleLbl="node2" presStyleIdx="0" presStyleCnt="3"/>
      <dgm:spPr/>
    </dgm:pt>
    <dgm:pt modelId="{566DDAA1-2894-464D-A84B-AF68B12AFC40}" type="pres">
      <dgm:prSet presAssocID="{2EF1E5F7-F4C9-4043-A3A7-1D02438B6E42}" presName="hierChild4" presStyleCnt="0"/>
      <dgm:spPr/>
    </dgm:pt>
    <dgm:pt modelId="{25A00DD3-8946-4A77-8FC1-43FB58C23B5D}" type="pres">
      <dgm:prSet presAssocID="{2EF1E5F7-F4C9-4043-A3A7-1D02438B6E42}" presName="hierChild5" presStyleCnt="0"/>
      <dgm:spPr/>
    </dgm:pt>
    <dgm:pt modelId="{4BF7CBF7-B3C8-4475-B7D0-126947CC36BA}" type="pres">
      <dgm:prSet presAssocID="{A4DFD86D-6DF1-4C21-A285-2EB208576D04}" presName="Name64" presStyleLbl="parChTrans1D2" presStyleIdx="1" presStyleCnt="3"/>
      <dgm:spPr/>
    </dgm:pt>
    <dgm:pt modelId="{F2DFB39E-B093-470F-8620-C99ADF1B8789}" type="pres">
      <dgm:prSet presAssocID="{63E48927-4273-4CC2-852E-58464BDBC66F}" presName="hierRoot2" presStyleCnt="0">
        <dgm:presLayoutVars>
          <dgm:hierBranch val="init"/>
        </dgm:presLayoutVars>
      </dgm:prSet>
      <dgm:spPr/>
    </dgm:pt>
    <dgm:pt modelId="{B403BA42-6907-4B30-AECA-795D1B45E049}" type="pres">
      <dgm:prSet presAssocID="{63E48927-4273-4CC2-852E-58464BDBC66F}" presName="rootComposite" presStyleCnt="0"/>
      <dgm:spPr/>
    </dgm:pt>
    <dgm:pt modelId="{1A21E3E5-672A-4E06-9054-B26E9C1498FC}" type="pres">
      <dgm:prSet presAssocID="{63E48927-4273-4CC2-852E-58464BDBC66F}" presName="rootText" presStyleLbl="node2" presStyleIdx="1" presStyleCnt="3">
        <dgm:presLayoutVars>
          <dgm:chPref val="3"/>
        </dgm:presLayoutVars>
      </dgm:prSet>
      <dgm:spPr/>
    </dgm:pt>
    <dgm:pt modelId="{1352B733-F831-43E5-BC9F-ADD4C8EF65F0}" type="pres">
      <dgm:prSet presAssocID="{63E48927-4273-4CC2-852E-58464BDBC66F}" presName="rootConnector" presStyleLbl="node2" presStyleIdx="1" presStyleCnt="3"/>
      <dgm:spPr/>
    </dgm:pt>
    <dgm:pt modelId="{4C2E37A6-8FC4-470A-AFE9-FF9127CD8D91}" type="pres">
      <dgm:prSet presAssocID="{63E48927-4273-4CC2-852E-58464BDBC66F}" presName="hierChild4" presStyleCnt="0"/>
      <dgm:spPr/>
    </dgm:pt>
    <dgm:pt modelId="{87DDEB55-8F6E-4A84-9065-34AB9F51CE2E}" type="pres">
      <dgm:prSet presAssocID="{63E48927-4273-4CC2-852E-58464BDBC66F}" presName="hierChild5" presStyleCnt="0"/>
      <dgm:spPr/>
    </dgm:pt>
    <dgm:pt modelId="{AD8AAA4B-C1C5-4760-90C2-EC697FD5616A}" type="pres">
      <dgm:prSet presAssocID="{D3084483-615E-4199-BFEA-0989AF9E7ED2}" presName="Name64" presStyleLbl="parChTrans1D2" presStyleIdx="2" presStyleCnt="3"/>
      <dgm:spPr/>
    </dgm:pt>
    <dgm:pt modelId="{AC770290-E554-4098-9730-BC594C1529E4}" type="pres">
      <dgm:prSet presAssocID="{50438182-1A42-46B2-928B-C7B9FAA4D708}" presName="hierRoot2" presStyleCnt="0">
        <dgm:presLayoutVars>
          <dgm:hierBranch val="init"/>
        </dgm:presLayoutVars>
      </dgm:prSet>
      <dgm:spPr/>
    </dgm:pt>
    <dgm:pt modelId="{96753C79-8F7F-4947-BA2B-4C3119B372F8}" type="pres">
      <dgm:prSet presAssocID="{50438182-1A42-46B2-928B-C7B9FAA4D708}" presName="rootComposite" presStyleCnt="0"/>
      <dgm:spPr/>
    </dgm:pt>
    <dgm:pt modelId="{256224B6-03E5-4C0E-9B13-4B5056F15A1E}" type="pres">
      <dgm:prSet presAssocID="{50438182-1A42-46B2-928B-C7B9FAA4D708}" presName="rootText" presStyleLbl="node2" presStyleIdx="2" presStyleCnt="3">
        <dgm:presLayoutVars>
          <dgm:chPref val="3"/>
        </dgm:presLayoutVars>
      </dgm:prSet>
      <dgm:spPr/>
    </dgm:pt>
    <dgm:pt modelId="{5F1465AC-A545-439E-9BA7-B4102CE2806A}" type="pres">
      <dgm:prSet presAssocID="{50438182-1A42-46B2-928B-C7B9FAA4D708}" presName="rootConnector" presStyleLbl="node2" presStyleIdx="2" presStyleCnt="3"/>
      <dgm:spPr/>
    </dgm:pt>
    <dgm:pt modelId="{6366C84E-660E-419C-9DDE-394A0B0E0C68}" type="pres">
      <dgm:prSet presAssocID="{50438182-1A42-46B2-928B-C7B9FAA4D708}" presName="hierChild4" presStyleCnt="0"/>
      <dgm:spPr/>
    </dgm:pt>
    <dgm:pt modelId="{6769C2DE-7E46-4E8B-855A-692619EF4DC3}" type="pres">
      <dgm:prSet presAssocID="{50438182-1A42-46B2-928B-C7B9FAA4D708}" presName="hierChild5" presStyleCnt="0"/>
      <dgm:spPr/>
    </dgm:pt>
    <dgm:pt modelId="{6A4A6DBD-AE5D-4733-BA56-8E56B4C5598B}" type="pres">
      <dgm:prSet presAssocID="{6F8A103C-57AF-4F5A-9D28-E9583999AEEE}" presName="hierChild3" presStyleCnt="0"/>
      <dgm:spPr/>
    </dgm:pt>
  </dgm:ptLst>
  <dgm:cxnLst>
    <dgm:cxn modelId="{D5D39615-43DE-4B4E-8860-E92AB83EB688}" type="presOf" srcId="{6F8A103C-57AF-4F5A-9D28-E9583999AEEE}" destId="{BAE657EB-BEBB-4D29-8078-B4DEFFB96230}" srcOrd="0" destOrd="0" presId="urn:microsoft.com/office/officeart/2009/3/layout/HorizontalOrganizationChart"/>
    <dgm:cxn modelId="{99515B2E-C2A3-4005-86D1-4BA21CD210C5}" type="presOf" srcId="{2EF1E5F7-F4C9-4043-A3A7-1D02438B6E42}" destId="{1ABEFF8E-3D48-456A-9CE8-E2F23D1EA71B}" srcOrd="0" destOrd="0" presId="urn:microsoft.com/office/officeart/2009/3/layout/HorizontalOrganizationChart"/>
    <dgm:cxn modelId="{DBCB506B-A4EB-461D-8469-5EFE143804F2}" type="presOf" srcId="{4D5EB594-27B5-4305-AFDB-B133B923ED0D}" destId="{F0FC56DC-06A3-43F8-9EC3-BDA15440E2E7}" srcOrd="0" destOrd="0" presId="urn:microsoft.com/office/officeart/2009/3/layout/HorizontalOrganizationChart"/>
    <dgm:cxn modelId="{3AC18556-D631-4CAD-A376-9A896FF41EB9}" type="presOf" srcId="{F9792EC2-A66A-4098-B3AF-FD4B183E5C7A}" destId="{EC54008C-0AFA-48DF-9413-FB1E48C6652A}" srcOrd="0" destOrd="0" presId="urn:microsoft.com/office/officeart/2009/3/layout/HorizontalOrganizationChart"/>
    <dgm:cxn modelId="{A1BB92A2-5547-4279-B364-0B34EC892C6F}" type="presOf" srcId="{63E48927-4273-4CC2-852E-58464BDBC66F}" destId="{1352B733-F831-43E5-BC9F-ADD4C8EF65F0}" srcOrd="1" destOrd="0" presId="urn:microsoft.com/office/officeart/2009/3/layout/HorizontalOrganizationChart"/>
    <dgm:cxn modelId="{D30BB8B2-CB6C-41D4-85DF-A1E73E38A13E}" type="presOf" srcId="{6F8A103C-57AF-4F5A-9D28-E9583999AEEE}" destId="{941EC9DC-DFC1-4521-9FF5-E13A4DA3239B}" srcOrd="1" destOrd="0" presId="urn:microsoft.com/office/officeart/2009/3/layout/HorizontalOrganizationChart"/>
    <dgm:cxn modelId="{167356B6-E58B-461D-BC62-E1C1A54F4858}" type="presOf" srcId="{D3084483-615E-4199-BFEA-0989AF9E7ED2}" destId="{AD8AAA4B-C1C5-4760-90C2-EC697FD5616A}" srcOrd="0" destOrd="0" presId="urn:microsoft.com/office/officeart/2009/3/layout/HorizontalOrganizationChart"/>
    <dgm:cxn modelId="{13AB1CC0-631D-4283-90A5-46AFCEE25CF4}" srcId="{6F8A103C-57AF-4F5A-9D28-E9583999AEEE}" destId="{63E48927-4273-4CC2-852E-58464BDBC66F}" srcOrd="1" destOrd="0" parTransId="{A4DFD86D-6DF1-4C21-A285-2EB208576D04}" sibTransId="{E41D760C-1E61-4499-A8DD-21C288214092}"/>
    <dgm:cxn modelId="{7C4160C1-F9BA-40BF-AFDF-473743686F7E}" srcId="{F9792EC2-A66A-4098-B3AF-FD4B183E5C7A}" destId="{6F8A103C-57AF-4F5A-9D28-E9583999AEEE}" srcOrd="0" destOrd="0" parTransId="{8373343B-5D75-4E05-AE1E-178EF51AA937}" sibTransId="{6E3B4939-296A-4719-9FAD-4895EDA71598}"/>
    <dgm:cxn modelId="{397E23D0-3119-420D-B296-109238F41843}" type="presOf" srcId="{50438182-1A42-46B2-928B-C7B9FAA4D708}" destId="{256224B6-03E5-4C0E-9B13-4B5056F15A1E}" srcOrd="0" destOrd="0" presId="urn:microsoft.com/office/officeart/2009/3/layout/HorizontalOrganizationChart"/>
    <dgm:cxn modelId="{34B54FD0-043B-42B5-8F62-4C187886C203}" type="presOf" srcId="{A4DFD86D-6DF1-4C21-A285-2EB208576D04}" destId="{4BF7CBF7-B3C8-4475-B7D0-126947CC36BA}" srcOrd="0" destOrd="0" presId="urn:microsoft.com/office/officeart/2009/3/layout/HorizontalOrganizationChart"/>
    <dgm:cxn modelId="{459E9BD3-739D-4F65-90A9-E05C4572BA71}" type="presOf" srcId="{2EF1E5F7-F4C9-4043-A3A7-1D02438B6E42}" destId="{F2976304-5F57-4958-AAA4-C1E5632EAB44}" srcOrd="1" destOrd="0" presId="urn:microsoft.com/office/officeart/2009/3/layout/HorizontalOrganizationChart"/>
    <dgm:cxn modelId="{DC44AEE8-5D28-440C-A4F0-BD9867876A75}" type="presOf" srcId="{50438182-1A42-46B2-928B-C7B9FAA4D708}" destId="{5F1465AC-A545-439E-9BA7-B4102CE2806A}" srcOrd="1" destOrd="0" presId="urn:microsoft.com/office/officeart/2009/3/layout/HorizontalOrganizationChart"/>
    <dgm:cxn modelId="{1AE17BE9-426B-4F04-9BB3-AE7021532246}" srcId="{6F8A103C-57AF-4F5A-9D28-E9583999AEEE}" destId="{2EF1E5F7-F4C9-4043-A3A7-1D02438B6E42}" srcOrd="0" destOrd="0" parTransId="{4D5EB594-27B5-4305-AFDB-B133B923ED0D}" sibTransId="{6DE59F0B-492C-4AC1-84C1-C25DA7077921}"/>
    <dgm:cxn modelId="{388603EC-8D6C-45F1-B808-A003049C4C00}" srcId="{6F8A103C-57AF-4F5A-9D28-E9583999AEEE}" destId="{50438182-1A42-46B2-928B-C7B9FAA4D708}" srcOrd="2" destOrd="0" parTransId="{D3084483-615E-4199-BFEA-0989AF9E7ED2}" sibTransId="{93D113EB-A2D0-4ACE-BF41-020958D4AA26}"/>
    <dgm:cxn modelId="{0AA521F3-A9FB-4997-8B40-4D32219D6302}" type="presOf" srcId="{63E48927-4273-4CC2-852E-58464BDBC66F}" destId="{1A21E3E5-672A-4E06-9054-B26E9C1498FC}" srcOrd="0" destOrd="0" presId="urn:microsoft.com/office/officeart/2009/3/layout/HorizontalOrganizationChart"/>
    <dgm:cxn modelId="{83631154-419C-4AE2-8975-DEC8B14A273B}" type="presParOf" srcId="{EC54008C-0AFA-48DF-9413-FB1E48C6652A}" destId="{DB9F7E44-6E22-4293-981D-39120A890DA5}" srcOrd="0" destOrd="0" presId="urn:microsoft.com/office/officeart/2009/3/layout/HorizontalOrganizationChart"/>
    <dgm:cxn modelId="{B111E267-D861-4BA4-936E-8DE7662996F1}" type="presParOf" srcId="{DB9F7E44-6E22-4293-981D-39120A890DA5}" destId="{87C9A2CA-B8CB-4407-900D-80B143E9C5DA}" srcOrd="0" destOrd="0" presId="urn:microsoft.com/office/officeart/2009/3/layout/HorizontalOrganizationChart"/>
    <dgm:cxn modelId="{C9E0B412-46E3-4883-8754-E97A45F2185B}" type="presParOf" srcId="{87C9A2CA-B8CB-4407-900D-80B143E9C5DA}" destId="{BAE657EB-BEBB-4D29-8078-B4DEFFB96230}" srcOrd="0" destOrd="0" presId="urn:microsoft.com/office/officeart/2009/3/layout/HorizontalOrganizationChart"/>
    <dgm:cxn modelId="{DF4CFF14-6FF8-4094-ABE6-B3F073CDA94A}" type="presParOf" srcId="{87C9A2CA-B8CB-4407-900D-80B143E9C5DA}" destId="{941EC9DC-DFC1-4521-9FF5-E13A4DA3239B}" srcOrd="1" destOrd="0" presId="urn:microsoft.com/office/officeart/2009/3/layout/HorizontalOrganizationChart"/>
    <dgm:cxn modelId="{D56677BB-A1E3-4042-9249-0E8CEC3EA7F5}" type="presParOf" srcId="{DB9F7E44-6E22-4293-981D-39120A890DA5}" destId="{02D6D2A6-12C3-457B-8261-AC6089E2DB0D}" srcOrd="1" destOrd="0" presId="urn:microsoft.com/office/officeart/2009/3/layout/HorizontalOrganizationChart"/>
    <dgm:cxn modelId="{3C5A755D-1CB1-4777-A093-DBFE6880F096}" type="presParOf" srcId="{02D6D2A6-12C3-457B-8261-AC6089E2DB0D}" destId="{F0FC56DC-06A3-43F8-9EC3-BDA15440E2E7}" srcOrd="0" destOrd="0" presId="urn:microsoft.com/office/officeart/2009/3/layout/HorizontalOrganizationChart"/>
    <dgm:cxn modelId="{71C6C0A5-C10F-44D9-9820-7D679892D92C}" type="presParOf" srcId="{02D6D2A6-12C3-457B-8261-AC6089E2DB0D}" destId="{49CEBC0F-CC6F-4A13-93E1-3FC37BDC723C}" srcOrd="1" destOrd="0" presId="urn:microsoft.com/office/officeart/2009/3/layout/HorizontalOrganizationChart"/>
    <dgm:cxn modelId="{59CE171B-6DE8-46E1-B866-5558684A362F}" type="presParOf" srcId="{49CEBC0F-CC6F-4A13-93E1-3FC37BDC723C}" destId="{CB38A71D-ADEA-4706-93B6-7665D972033E}" srcOrd="0" destOrd="0" presId="urn:microsoft.com/office/officeart/2009/3/layout/HorizontalOrganizationChart"/>
    <dgm:cxn modelId="{52B26B2F-0319-4A38-B195-36DCDC377601}" type="presParOf" srcId="{CB38A71D-ADEA-4706-93B6-7665D972033E}" destId="{1ABEFF8E-3D48-456A-9CE8-E2F23D1EA71B}" srcOrd="0" destOrd="0" presId="urn:microsoft.com/office/officeart/2009/3/layout/HorizontalOrganizationChart"/>
    <dgm:cxn modelId="{689FB88A-E456-455E-969A-23874EA0B79F}" type="presParOf" srcId="{CB38A71D-ADEA-4706-93B6-7665D972033E}" destId="{F2976304-5F57-4958-AAA4-C1E5632EAB44}" srcOrd="1" destOrd="0" presId="urn:microsoft.com/office/officeart/2009/3/layout/HorizontalOrganizationChart"/>
    <dgm:cxn modelId="{1D7CD043-5A6E-4F40-86C7-6DF383D1C214}" type="presParOf" srcId="{49CEBC0F-CC6F-4A13-93E1-3FC37BDC723C}" destId="{566DDAA1-2894-464D-A84B-AF68B12AFC40}" srcOrd="1" destOrd="0" presId="urn:microsoft.com/office/officeart/2009/3/layout/HorizontalOrganizationChart"/>
    <dgm:cxn modelId="{0E450A0A-81D0-4369-A8C4-83BDD7C75B7A}" type="presParOf" srcId="{49CEBC0F-CC6F-4A13-93E1-3FC37BDC723C}" destId="{25A00DD3-8946-4A77-8FC1-43FB58C23B5D}" srcOrd="2" destOrd="0" presId="urn:microsoft.com/office/officeart/2009/3/layout/HorizontalOrganizationChart"/>
    <dgm:cxn modelId="{F98E3D3B-A85C-41FF-BD3B-432F9096AD51}" type="presParOf" srcId="{02D6D2A6-12C3-457B-8261-AC6089E2DB0D}" destId="{4BF7CBF7-B3C8-4475-B7D0-126947CC36BA}" srcOrd="2" destOrd="0" presId="urn:microsoft.com/office/officeart/2009/3/layout/HorizontalOrganizationChart"/>
    <dgm:cxn modelId="{2FB467A5-C12B-49D3-A539-8649DCDCFCB7}" type="presParOf" srcId="{02D6D2A6-12C3-457B-8261-AC6089E2DB0D}" destId="{F2DFB39E-B093-470F-8620-C99ADF1B8789}" srcOrd="3" destOrd="0" presId="urn:microsoft.com/office/officeart/2009/3/layout/HorizontalOrganizationChart"/>
    <dgm:cxn modelId="{4B66C0FE-6C49-4651-85EA-F8AF4C5A2565}" type="presParOf" srcId="{F2DFB39E-B093-470F-8620-C99ADF1B8789}" destId="{B403BA42-6907-4B30-AECA-795D1B45E049}" srcOrd="0" destOrd="0" presId="urn:microsoft.com/office/officeart/2009/3/layout/HorizontalOrganizationChart"/>
    <dgm:cxn modelId="{2139C3C8-FD8D-47C0-830B-C18A5B2EC685}" type="presParOf" srcId="{B403BA42-6907-4B30-AECA-795D1B45E049}" destId="{1A21E3E5-672A-4E06-9054-B26E9C1498FC}" srcOrd="0" destOrd="0" presId="urn:microsoft.com/office/officeart/2009/3/layout/HorizontalOrganizationChart"/>
    <dgm:cxn modelId="{9F379247-C26D-4D5B-AB7F-A3D888BF7150}" type="presParOf" srcId="{B403BA42-6907-4B30-AECA-795D1B45E049}" destId="{1352B733-F831-43E5-BC9F-ADD4C8EF65F0}" srcOrd="1" destOrd="0" presId="urn:microsoft.com/office/officeart/2009/3/layout/HorizontalOrganizationChart"/>
    <dgm:cxn modelId="{BDA56AB0-DAD9-4946-865D-7D0BD3B0D9E2}" type="presParOf" srcId="{F2DFB39E-B093-470F-8620-C99ADF1B8789}" destId="{4C2E37A6-8FC4-470A-AFE9-FF9127CD8D91}" srcOrd="1" destOrd="0" presId="urn:microsoft.com/office/officeart/2009/3/layout/HorizontalOrganizationChart"/>
    <dgm:cxn modelId="{2892466B-E907-4C49-ACCE-3256366C867D}" type="presParOf" srcId="{F2DFB39E-B093-470F-8620-C99ADF1B8789}" destId="{87DDEB55-8F6E-4A84-9065-34AB9F51CE2E}" srcOrd="2" destOrd="0" presId="urn:microsoft.com/office/officeart/2009/3/layout/HorizontalOrganizationChart"/>
    <dgm:cxn modelId="{042490FC-01DF-4A90-916E-F750DAF246CB}" type="presParOf" srcId="{02D6D2A6-12C3-457B-8261-AC6089E2DB0D}" destId="{AD8AAA4B-C1C5-4760-90C2-EC697FD5616A}" srcOrd="4" destOrd="0" presId="urn:microsoft.com/office/officeart/2009/3/layout/HorizontalOrganizationChart"/>
    <dgm:cxn modelId="{847D64DC-7A59-471A-9759-ECBF7DC845BD}" type="presParOf" srcId="{02D6D2A6-12C3-457B-8261-AC6089E2DB0D}" destId="{AC770290-E554-4098-9730-BC594C1529E4}" srcOrd="5" destOrd="0" presId="urn:microsoft.com/office/officeart/2009/3/layout/HorizontalOrganizationChart"/>
    <dgm:cxn modelId="{E97C1963-4093-4B0B-9C1E-51C9EC56DC1D}" type="presParOf" srcId="{AC770290-E554-4098-9730-BC594C1529E4}" destId="{96753C79-8F7F-4947-BA2B-4C3119B372F8}" srcOrd="0" destOrd="0" presId="urn:microsoft.com/office/officeart/2009/3/layout/HorizontalOrganizationChart"/>
    <dgm:cxn modelId="{78C4ED68-2345-4257-B999-D2448E53C180}" type="presParOf" srcId="{96753C79-8F7F-4947-BA2B-4C3119B372F8}" destId="{256224B6-03E5-4C0E-9B13-4B5056F15A1E}" srcOrd="0" destOrd="0" presId="urn:microsoft.com/office/officeart/2009/3/layout/HorizontalOrganizationChart"/>
    <dgm:cxn modelId="{E8C26779-5A67-400E-A5E1-287D0078C08A}" type="presParOf" srcId="{96753C79-8F7F-4947-BA2B-4C3119B372F8}" destId="{5F1465AC-A545-439E-9BA7-B4102CE2806A}" srcOrd="1" destOrd="0" presId="urn:microsoft.com/office/officeart/2009/3/layout/HorizontalOrganizationChart"/>
    <dgm:cxn modelId="{910BBC01-6FE6-47F5-84C6-B9936DA1C2FA}" type="presParOf" srcId="{AC770290-E554-4098-9730-BC594C1529E4}" destId="{6366C84E-660E-419C-9DDE-394A0B0E0C68}" srcOrd="1" destOrd="0" presId="urn:microsoft.com/office/officeart/2009/3/layout/HorizontalOrganizationChart"/>
    <dgm:cxn modelId="{E869B977-04DF-4194-8A85-B57F089C6FD2}" type="presParOf" srcId="{AC770290-E554-4098-9730-BC594C1529E4}" destId="{6769C2DE-7E46-4E8B-855A-692619EF4DC3}" srcOrd="2" destOrd="0" presId="urn:microsoft.com/office/officeart/2009/3/layout/HorizontalOrganizationChart"/>
    <dgm:cxn modelId="{C63BBE39-AB9B-4DD0-9FE8-6E2A1578F7B8}" type="presParOf" srcId="{DB9F7E44-6E22-4293-981D-39120A890DA5}" destId="{6A4A6DBD-AE5D-4733-BA56-8E56B4C5598B}" srcOrd="2" destOrd="0" presId="urn:microsoft.com/office/officeart/2009/3/layout/HorizontalOrganizationChart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895107-6C48-41EA-881A-A03E9783CDF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D82ABB1-66EE-4842-9F9A-0AC8992ACC13}">
      <dgm:prSet phldrT="[Text]" phldr="0"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recommended to improve </a:t>
          </a:r>
          <a:r>
            <a: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water harvesting and storage systems</a:t>
          </a: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 low-rainfall regions.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8CE1AB-3661-4901-8A32-1F2CABF34A08}" type="parTrans" cxnId="{1C0B9D05-8395-4C67-93E7-F18350D9DB26}">
      <dgm:prSet/>
      <dgm:spPr/>
      <dgm:t>
        <a:bodyPr/>
        <a:lstStyle/>
        <a:p>
          <a:endParaRPr lang="en-IN"/>
        </a:p>
      </dgm:t>
    </dgm:pt>
    <dgm:pt modelId="{B59F6EB4-E141-4FE3-B9DA-0BF1B3F9FF79}" type="sibTrans" cxnId="{1C0B9D05-8395-4C67-93E7-F18350D9DB26}">
      <dgm:prSet/>
      <dgm:spPr/>
      <dgm:t>
        <a:bodyPr/>
        <a:lstStyle/>
        <a:p>
          <a:endParaRPr lang="en-IN"/>
        </a:p>
      </dgm:t>
    </dgm:pt>
    <dgm:pt modelId="{84E22C7D-102C-4790-9232-711CCB562D33}">
      <dgm:prSet phldrT="[Text]" custT="1"/>
      <dgm:spPr/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suggested to </a:t>
          </a:r>
          <a:r>
            <a: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strengthen flood preparedness</a:t>
          </a: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 high-rainfall and highly variable rainfall zones.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E62350-BAE8-4445-89EE-21EE6363D0D9}" type="parTrans" cxnId="{AB217F81-1F20-4506-8763-821A5E04455F}">
      <dgm:prSet/>
      <dgm:spPr/>
      <dgm:t>
        <a:bodyPr/>
        <a:lstStyle/>
        <a:p>
          <a:endParaRPr lang="en-IN"/>
        </a:p>
      </dgm:t>
    </dgm:pt>
    <dgm:pt modelId="{91DDC7E1-7FAE-40FB-A6E2-A1DA4490CF42}" type="sibTrans" cxnId="{AB217F81-1F20-4506-8763-821A5E04455F}">
      <dgm:prSet/>
      <dgm:spPr/>
      <dgm:t>
        <a:bodyPr/>
        <a:lstStyle/>
        <a:p>
          <a:endParaRPr lang="en-IN"/>
        </a:p>
      </dgm:t>
    </dgm:pt>
    <dgm:pt modelId="{4411A63F-6CCD-40F0-A93D-65818693EEAD}">
      <dgm:prSet phldrT="[Text]" phldr="0"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also endorsed to </a:t>
          </a:r>
          <a:r>
            <a: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rainfall pattern analysis </a:t>
          </a: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 agricultural planning and crop selection.</a:t>
          </a:r>
          <a:endParaRPr lang="en-IN" sz="20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C39B5C-740E-4630-B749-65EC7BF60E99}" type="parTrans" cxnId="{1879A791-7551-4162-B6CA-E95F39DCEA6C}">
      <dgm:prSet/>
      <dgm:spPr/>
      <dgm:t>
        <a:bodyPr/>
        <a:lstStyle/>
        <a:p>
          <a:endParaRPr lang="en-IN"/>
        </a:p>
      </dgm:t>
    </dgm:pt>
    <dgm:pt modelId="{0BBFE3E3-438E-4A13-9E76-B78E0586B868}" type="sibTrans" cxnId="{1879A791-7551-4162-B6CA-E95F39DCEA6C}">
      <dgm:prSet/>
      <dgm:spPr/>
      <dgm:t>
        <a:bodyPr/>
        <a:lstStyle/>
        <a:p>
          <a:endParaRPr lang="en-IN"/>
        </a:p>
      </dgm:t>
    </dgm:pt>
    <dgm:pt modelId="{7E101DD4-7E29-44CB-8198-F20C1FC9C8CA}">
      <dgm:prSet custT="1"/>
      <dgm:spPr/>
      <dgm:t>
        <a:bodyPr/>
        <a:lstStyle/>
        <a:p>
          <a:pPr algn="just">
            <a:lnSpc>
              <a:spcPct val="150000"/>
            </a:lnSpc>
          </a:pPr>
          <a:r>
            <a: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also encouraged to focus on </a:t>
          </a:r>
          <a:r>
            <a: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region-specific climate adaptation and water management strategies.</a:t>
          </a:r>
          <a:endParaRPr lang="en-IN" sz="2000" b="1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39B946-B3F1-4DC2-9317-7B52D7FBC4C7}" type="parTrans" cxnId="{C2E28CC6-0730-48B5-8F33-BE6E1C11F69B}">
      <dgm:prSet/>
      <dgm:spPr/>
      <dgm:t>
        <a:bodyPr/>
        <a:lstStyle/>
        <a:p>
          <a:endParaRPr lang="en-IN"/>
        </a:p>
      </dgm:t>
    </dgm:pt>
    <dgm:pt modelId="{8813E0A7-45EF-4952-9833-847EFA87E419}" type="sibTrans" cxnId="{C2E28CC6-0730-48B5-8F33-BE6E1C11F69B}">
      <dgm:prSet/>
      <dgm:spPr/>
      <dgm:t>
        <a:bodyPr/>
        <a:lstStyle/>
        <a:p>
          <a:endParaRPr lang="en-IN"/>
        </a:p>
      </dgm:t>
    </dgm:pt>
    <dgm:pt modelId="{FF07ABE6-6830-4BB5-91F1-5E4F8EBF954B}" type="pres">
      <dgm:prSet presAssocID="{28895107-6C48-41EA-881A-A03E9783CDF1}" presName="linear" presStyleCnt="0">
        <dgm:presLayoutVars>
          <dgm:dir/>
          <dgm:animLvl val="lvl"/>
          <dgm:resizeHandles val="exact"/>
        </dgm:presLayoutVars>
      </dgm:prSet>
      <dgm:spPr/>
    </dgm:pt>
    <dgm:pt modelId="{459270E5-BB79-4F4E-B189-84245B6A35CF}" type="pres">
      <dgm:prSet presAssocID="{CD82ABB1-66EE-4842-9F9A-0AC8992ACC13}" presName="parentLin" presStyleCnt="0"/>
      <dgm:spPr/>
    </dgm:pt>
    <dgm:pt modelId="{B2C6FFFB-0D00-4805-98FF-D1F5A4B6373B}" type="pres">
      <dgm:prSet presAssocID="{CD82ABB1-66EE-4842-9F9A-0AC8992ACC13}" presName="parentLeftMargin" presStyleLbl="node1" presStyleIdx="0" presStyleCnt="4"/>
      <dgm:spPr/>
    </dgm:pt>
    <dgm:pt modelId="{23A18828-61C0-45B1-899A-0AD282F2D8EF}" type="pres">
      <dgm:prSet presAssocID="{CD82ABB1-66EE-4842-9F9A-0AC8992ACC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F3D686-01E2-4910-8523-7034B472AEDB}" type="pres">
      <dgm:prSet presAssocID="{CD82ABB1-66EE-4842-9F9A-0AC8992ACC13}" presName="negativeSpace" presStyleCnt="0"/>
      <dgm:spPr/>
    </dgm:pt>
    <dgm:pt modelId="{24EA6244-06E6-4197-8A30-40A8EA964961}" type="pres">
      <dgm:prSet presAssocID="{CD82ABB1-66EE-4842-9F9A-0AC8992ACC13}" presName="childText" presStyleLbl="conFgAcc1" presStyleIdx="0" presStyleCnt="4">
        <dgm:presLayoutVars>
          <dgm:bulletEnabled val="1"/>
        </dgm:presLayoutVars>
      </dgm:prSet>
      <dgm:spPr/>
    </dgm:pt>
    <dgm:pt modelId="{8E15DF88-6A88-4E24-ADE6-8794A54DDDCB}" type="pres">
      <dgm:prSet presAssocID="{B59F6EB4-E141-4FE3-B9DA-0BF1B3F9FF79}" presName="spaceBetweenRectangles" presStyleCnt="0"/>
      <dgm:spPr/>
    </dgm:pt>
    <dgm:pt modelId="{4C31E64D-3FA0-4256-935D-4219A1F07F3D}" type="pres">
      <dgm:prSet presAssocID="{84E22C7D-102C-4790-9232-711CCB562D33}" presName="parentLin" presStyleCnt="0"/>
      <dgm:spPr/>
    </dgm:pt>
    <dgm:pt modelId="{29E8986E-7610-4981-AA14-22C56515A97F}" type="pres">
      <dgm:prSet presAssocID="{84E22C7D-102C-4790-9232-711CCB562D33}" presName="parentLeftMargin" presStyleLbl="node1" presStyleIdx="0" presStyleCnt="4"/>
      <dgm:spPr/>
    </dgm:pt>
    <dgm:pt modelId="{87339576-E94B-4C98-9E60-4F59EEBDFFA1}" type="pres">
      <dgm:prSet presAssocID="{84E22C7D-102C-4790-9232-711CCB562D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D5EA10-8B20-4D04-A02A-F0F31397E964}" type="pres">
      <dgm:prSet presAssocID="{84E22C7D-102C-4790-9232-711CCB562D33}" presName="negativeSpace" presStyleCnt="0"/>
      <dgm:spPr/>
    </dgm:pt>
    <dgm:pt modelId="{87DF86D7-6EA6-46E1-9DE6-1E9FC58A4909}" type="pres">
      <dgm:prSet presAssocID="{84E22C7D-102C-4790-9232-711CCB562D33}" presName="childText" presStyleLbl="conFgAcc1" presStyleIdx="1" presStyleCnt="4">
        <dgm:presLayoutVars>
          <dgm:bulletEnabled val="1"/>
        </dgm:presLayoutVars>
      </dgm:prSet>
      <dgm:spPr/>
    </dgm:pt>
    <dgm:pt modelId="{6D3ED961-B9C7-4CB3-BEBF-498F80C36738}" type="pres">
      <dgm:prSet presAssocID="{91DDC7E1-7FAE-40FB-A6E2-A1DA4490CF42}" presName="spaceBetweenRectangles" presStyleCnt="0"/>
      <dgm:spPr/>
    </dgm:pt>
    <dgm:pt modelId="{DC9C7603-6E3E-4037-8F73-3F2BAAF2915C}" type="pres">
      <dgm:prSet presAssocID="{4411A63F-6CCD-40F0-A93D-65818693EEAD}" presName="parentLin" presStyleCnt="0"/>
      <dgm:spPr/>
    </dgm:pt>
    <dgm:pt modelId="{CF852DAB-7C2D-42D9-97AE-AA4B2A9F3697}" type="pres">
      <dgm:prSet presAssocID="{4411A63F-6CCD-40F0-A93D-65818693EEAD}" presName="parentLeftMargin" presStyleLbl="node1" presStyleIdx="1" presStyleCnt="4"/>
      <dgm:spPr/>
    </dgm:pt>
    <dgm:pt modelId="{D63E0BD4-E299-4C03-94F9-CAEC6DBCB2A8}" type="pres">
      <dgm:prSet presAssocID="{4411A63F-6CCD-40F0-A93D-65818693EE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508A62-EEAD-45B9-B83B-AC110DFF609D}" type="pres">
      <dgm:prSet presAssocID="{4411A63F-6CCD-40F0-A93D-65818693EEAD}" presName="negativeSpace" presStyleCnt="0"/>
      <dgm:spPr/>
    </dgm:pt>
    <dgm:pt modelId="{42804405-541B-46CA-9B9E-D557D896B985}" type="pres">
      <dgm:prSet presAssocID="{4411A63F-6CCD-40F0-A93D-65818693EEAD}" presName="childText" presStyleLbl="conFgAcc1" presStyleIdx="2" presStyleCnt="4">
        <dgm:presLayoutVars>
          <dgm:bulletEnabled val="1"/>
        </dgm:presLayoutVars>
      </dgm:prSet>
      <dgm:spPr/>
    </dgm:pt>
    <dgm:pt modelId="{2BB1F408-E297-4BA4-9C9C-D2EAF6532AD4}" type="pres">
      <dgm:prSet presAssocID="{0BBFE3E3-438E-4A13-9E76-B78E0586B868}" presName="spaceBetweenRectangles" presStyleCnt="0"/>
      <dgm:spPr/>
    </dgm:pt>
    <dgm:pt modelId="{D5CC5389-F764-44D5-AB78-BF401F14AA2C}" type="pres">
      <dgm:prSet presAssocID="{7E101DD4-7E29-44CB-8198-F20C1FC9C8CA}" presName="parentLin" presStyleCnt="0"/>
      <dgm:spPr/>
    </dgm:pt>
    <dgm:pt modelId="{EC257925-0658-4D5B-8F51-096FBD309081}" type="pres">
      <dgm:prSet presAssocID="{7E101DD4-7E29-44CB-8198-F20C1FC9C8CA}" presName="parentLeftMargin" presStyleLbl="node1" presStyleIdx="2" presStyleCnt="4"/>
      <dgm:spPr/>
    </dgm:pt>
    <dgm:pt modelId="{1C408904-4D9E-4994-874D-3F9E91B4B609}" type="pres">
      <dgm:prSet presAssocID="{7E101DD4-7E29-44CB-8198-F20C1FC9C8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A8D9C86-2C49-485E-8FBE-C249BE34A78D}" type="pres">
      <dgm:prSet presAssocID="{7E101DD4-7E29-44CB-8198-F20C1FC9C8CA}" presName="negativeSpace" presStyleCnt="0"/>
      <dgm:spPr/>
    </dgm:pt>
    <dgm:pt modelId="{4B83941D-BCD9-4EB4-B0CB-8ED3F2C32EC8}" type="pres">
      <dgm:prSet presAssocID="{7E101DD4-7E29-44CB-8198-F20C1FC9C8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C0B9D05-8395-4C67-93E7-F18350D9DB26}" srcId="{28895107-6C48-41EA-881A-A03E9783CDF1}" destId="{CD82ABB1-66EE-4842-9F9A-0AC8992ACC13}" srcOrd="0" destOrd="0" parTransId="{458CE1AB-3661-4901-8A32-1F2CABF34A08}" sibTransId="{B59F6EB4-E141-4FE3-B9DA-0BF1B3F9FF79}"/>
    <dgm:cxn modelId="{EC3CE81C-824A-4B89-99D0-3ABE7ADEE5FA}" type="presOf" srcId="{CD82ABB1-66EE-4842-9F9A-0AC8992ACC13}" destId="{23A18828-61C0-45B1-899A-0AD282F2D8EF}" srcOrd="1" destOrd="0" presId="urn:microsoft.com/office/officeart/2005/8/layout/list1"/>
    <dgm:cxn modelId="{465E0240-9A8C-425F-92CE-03490C210990}" type="presOf" srcId="{4411A63F-6CCD-40F0-A93D-65818693EEAD}" destId="{D63E0BD4-E299-4C03-94F9-CAEC6DBCB2A8}" srcOrd="1" destOrd="0" presId="urn:microsoft.com/office/officeart/2005/8/layout/list1"/>
    <dgm:cxn modelId="{B267C362-CC04-47D6-887D-A1067E8F69D6}" type="presOf" srcId="{28895107-6C48-41EA-881A-A03E9783CDF1}" destId="{FF07ABE6-6830-4BB5-91F1-5E4F8EBF954B}" srcOrd="0" destOrd="0" presId="urn:microsoft.com/office/officeart/2005/8/layout/list1"/>
    <dgm:cxn modelId="{C4B8A063-5675-4F3E-9735-8F33719BA538}" type="presOf" srcId="{7E101DD4-7E29-44CB-8198-F20C1FC9C8CA}" destId="{1C408904-4D9E-4994-874D-3F9E91B4B609}" srcOrd="1" destOrd="0" presId="urn:microsoft.com/office/officeart/2005/8/layout/list1"/>
    <dgm:cxn modelId="{59DC9D68-46CA-462D-A863-C921A6B1D8FF}" type="presOf" srcId="{4411A63F-6CCD-40F0-A93D-65818693EEAD}" destId="{CF852DAB-7C2D-42D9-97AE-AA4B2A9F3697}" srcOrd="0" destOrd="0" presId="urn:microsoft.com/office/officeart/2005/8/layout/list1"/>
    <dgm:cxn modelId="{C5DB4F69-3BE1-4882-BA43-9F24D36B9300}" type="presOf" srcId="{CD82ABB1-66EE-4842-9F9A-0AC8992ACC13}" destId="{B2C6FFFB-0D00-4805-98FF-D1F5A4B6373B}" srcOrd="0" destOrd="0" presId="urn:microsoft.com/office/officeart/2005/8/layout/list1"/>
    <dgm:cxn modelId="{41B67A5A-9BDE-42BC-954E-DEA743491E6D}" type="presOf" srcId="{7E101DD4-7E29-44CB-8198-F20C1FC9C8CA}" destId="{EC257925-0658-4D5B-8F51-096FBD309081}" srcOrd="0" destOrd="0" presId="urn:microsoft.com/office/officeart/2005/8/layout/list1"/>
    <dgm:cxn modelId="{AB217F81-1F20-4506-8763-821A5E04455F}" srcId="{28895107-6C48-41EA-881A-A03E9783CDF1}" destId="{84E22C7D-102C-4790-9232-711CCB562D33}" srcOrd="1" destOrd="0" parTransId="{27E62350-BAE8-4445-89EE-21EE6363D0D9}" sibTransId="{91DDC7E1-7FAE-40FB-A6E2-A1DA4490CF42}"/>
    <dgm:cxn modelId="{1879A791-7551-4162-B6CA-E95F39DCEA6C}" srcId="{28895107-6C48-41EA-881A-A03E9783CDF1}" destId="{4411A63F-6CCD-40F0-A93D-65818693EEAD}" srcOrd="2" destOrd="0" parTransId="{24C39B5C-740E-4630-B749-65EC7BF60E99}" sibTransId="{0BBFE3E3-438E-4A13-9E76-B78E0586B868}"/>
    <dgm:cxn modelId="{DFB447BB-6FA6-4520-AB86-3D0291815B66}" type="presOf" srcId="{84E22C7D-102C-4790-9232-711CCB562D33}" destId="{29E8986E-7610-4981-AA14-22C56515A97F}" srcOrd="0" destOrd="0" presId="urn:microsoft.com/office/officeart/2005/8/layout/list1"/>
    <dgm:cxn modelId="{C2E28CC6-0730-48B5-8F33-BE6E1C11F69B}" srcId="{28895107-6C48-41EA-881A-A03E9783CDF1}" destId="{7E101DD4-7E29-44CB-8198-F20C1FC9C8CA}" srcOrd="3" destOrd="0" parTransId="{5039B946-B3F1-4DC2-9317-7B52D7FBC4C7}" sibTransId="{8813E0A7-45EF-4952-9833-847EFA87E419}"/>
    <dgm:cxn modelId="{929912E7-91AC-476B-BAF6-49567A18D18F}" type="presOf" srcId="{84E22C7D-102C-4790-9232-711CCB562D33}" destId="{87339576-E94B-4C98-9E60-4F59EEBDFFA1}" srcOrd="1" destOrd="0" presId="urn:microsoft.com/office/officeart/2005/8/layout/list1"/>
    <dgm:cxn modelId="{F3B77BCA-A101-4B90-9BAE-58FB2DE04043}" type="presParOf" srcId="{FF07ABE6-6830-4BB5-91F1-5E4F8EBF954B}" destId="{459270E5-BB79-4F4E-B189-84245B6A35CF}" srcOrd="0" destOrd="0" presId="urn:microsoft.com/office/officeart/2005/8/layout/list1"/>
    <dgm:cxn modelId="{1F2CFE0A-63EF-46A0-8948-BC74E97A8E7A}" type="presParOf" srcId="{459270E5-BB79-4F4E-B189-84245B6A35CF}" destId="{B2C6FFFB-0D00-4805-98FF-D1F5A4B6373B}" srcOrd="0" destOrd="0" presId="urn:microsoft.com/office/officeart/2005/8/layout/list1"/>
    <dgm:cxn modelId="{353D775E-E145-4380-BDA4-30F47FD6AA63}" type="presParOf" srcId="{459270E5-BB79-4F4E-B189-84245B6A35CF}" destId="{23A18828-61C0-45B1-899A-0AD282F2D8EF}" srcOrd="1" destOrd="0" presId="urn:microsoft.com/office/officeart/2005/8/layout/list1"/>
    <dgm:cxn modelId="{520CCAF6-707F-49BB-8731-6B9A3CFEA4DB}" type="presParOf" srcId="{FF07ABE6-6830-4BB5-91F1-5E4F8EBF954B}" destId="{6CF3D686-01E2-4910-8523-7034B472AEDB}" srcOrd="1" destOrd="0" presId="urn:microsoft.com/office/officeart/2005/8/layout/list1"/>
    <dgm:cxn modelId="{944168B4-FE93-4AE6-8C05-CE5392E877B7}" type="presParOf" srcId="{FF07ABE6-6830-4BB5-91F1-5E4F8EBF954B}" destId="{24EA6244-06E6-4197-8A30-40A8EA964961}" srcOrd="2" destOrd="0" presId="urn:microsoft.com/office/officeart/2005/8/layout/list1"/>
    <dgm:cxn modelId="{BC0B8FE1-CD1E-4D8A-B553-FB4279D7508F}" type="presParOf" srcId="{FF07ABE6-6830-4BB5-91F1-5E4F8EBF954B}" destId="{8E15DF88-6A88-4E24-ADE6-8794A54DDDCB}" srcOrd="3" destOrd="0" presId="urn:microsoft.com/office/officeart/2005/8/layout/list1"/>
    <dgm:cxn modelId="{FC1DEC50-7D8F-402C-AA8E-5EC388F7F0FA}" type="presParOf" srcId="{FF07ABE6-6830-4BB5-91F1-5E4F8EBF954B}" destId="{4C31E64D-3FA0-4256-935D-4219A1F07F3D}" srcOrd="4" destOrd="0" presId="urn:microsoft.com/office/officeart/2005/8/layout/list1"/>
    <dgm:cxn modelId="{53D95CEE-76CD-4912-B780-9C946389714D}" type="presParOf" srcId="{4C31E64D-3FA0-4256-935D-4219A1F07F3D}" destId="{29E8986E-7610-4981-AA14-22C56515A97F}" srcOrd="0" destOrd="0" presId="urn:microsoft.com/office/officeart/2005/8/layout/list1"/>
    <dgm:cxn modelId="{07AE09C3-3E1F-48E9-A032-D654E77E0315}" type="presParOf" srcId="{4C31E64D-3FA0-4256-935D-4219A1F07F3D}" destId="{87339576-E94B-4C98-9E60-4F59EEBDFFA1}" srcOrd="1" destOrd="0" presId="urn:microsoft.com/office/officeart/2005/8/layout/list1"/>
    <dgm:cxn modelId="{04882FAB-F13F-4539-9231-22C95B5C3D8F}" type="presParOf" srcId="{FF07ABE6-6830-4BB5-91F1-5E4F8EBF954B}" destId="{BCD5EA10-8B20-4D04-A02A-F0F31397E964}" srcOrd="5" destOrd="0" presId="urn:microsoft.com/office/officeart/2005/8/layout/list1"/>
    <dgm:cxn modelId="{8287792D-04BB-4763-9238-144994F73B38}" type="presParOf" srcId="{FF07ABE6-6830-4BB5-91F1-5E4F8EBF954B}" destId="{87DF86D7-6EA6-46E1-9DE6-1E9FC58A4909}" srcOrd="6" destOrd="0" presId="urn:microsoft.com/office/officeart/2005/8/layout/list1"/>
    <dgm:cxn modelId="{911A2B9B-CF13-467B-A10C-C02DC1F0B206}" type="presParOf" srcId="{FF07ABE6-6830-4BB5-91F1-5E4F8EBF954B}" destId="{6D3ED961-B9C7-4CB3-BEBF-498F80C36738}" srcOrd="7" destOrd="0" presId="urn:microsoft.com/office/officeart/2005/8/layout/list1"/>
    <dgm:cxn modelId="{1C6621AB-66D9-4BBF-BE30-B0B96990E834}" type="presParOf" srcId="{FF07ABE6-6830-4BB5-91F1-5E4F8EBF954B}" destId="{DC9C7603-6E3E-4037-8F73-3F2BAAF2915C}" srcOrd="8" destOrd="0" presId="urn:microsoft.com/office/officeart/2005/8/layout/list1"/>
    <dgm:cxn modelId="{FE2D10ED-1FE6-457C-A830-396589190A1C}" type="presParOf" srcId="{DC9C7603-6E3E-4037-8F73-3F2BAAF2915C}" destId="{CF852DAB-7C2D-42D9-97AE-AA4B2A9F3697}" srcOrd="0" destOrd="0" presId="urn:microsoft.com/office/officeart/2005/8/layout/list1"/>
    <dgm:cxn modelId="{9B1DECEA-A4B1-4C37-9552-CB97EABDA44F}" type="presParOf" srcId="{DC9C7603-6E3E-4037-8F73-3F2BAAF2915C}" destId="{D63E0BD4-E299-4C03-94F9-CAEC6DBCB2A8}" srcOrd="1" destOrd="0" presId="urn:microsoft.com/office/officeart/2005/8/layout/list1"/>
    <dgm:cxn modelId="{A5F31DED-3C22-4311-9332-32386E53B535}" type="presParOf" srcId="{FF07ABE6-6830-4BB5-91F1-5E4F8EBF954B}" destId="{B3508A62-EEAD-45B9-B83B-AC110DFF609D}" srcOrd="9" destOrd="0" presId="urn:microsoft.com/office/officeart/2005/8/layout/list1"/>
    <dgm:cxn modelId="{18CABE3C-B916-4361-ACF4-00743B553B0D}" type="presParOf" srcId="{FF07ABE6-6830-4BB5-91F1-5E4F8EBF954B}" destId="{42804405-541B-46CA-9B9E-D557D896B985}" srcOrd="10" destOrd="0" presId="urn:microsoft.com/office/officeart/2005/8/layout/list1"/>
    <dgm:cxn modelId="{8AEFEFC6-5523-46E8-9CCB-929476D82424}" type="presParOf" srcId="{FF07ABE6-6830-4BB5-91F1-5E4F8EBF954B}" destId="{2BB1F408-E297-4BA4-9C9C-D2EAF6532AD4}" srcOrd="11" destOrd="0" presId="urn:microsoft.com/office/officeart/2005/8/layout/list1"/>
    <dgm:cxn modelId="{821A9194-0BA7-44DB-B6B6-A7D79489FB71}" type="presParOf" srcId="{FF07ABE6-6830-4BB5-91F1-5E4F8EBF954B}" destId="{D5CC5389-F764-44D5-AB78-BF401F14AA2C}" srcOrd="12" destOrd="0" presId="urn:microsoft.com/office/officeart/2005/8/layout/list1"/>
    <dgm:cxn modelId="{90A9EA07-5B34-414F-82C6-730A53E3D7A1}" type="presParOf" srcId="{D5CC5389-F764-44D5-AB78-BF401F14AA2C}" destId="{EC257925-0658-4D5B-8F51-096FBD309081}" srcOrd="0" destOrd="0" presId="urn:microsoft.com/office/officeart/2005/8/layout/list1"/>
    <dgm:cxn modelId="{5616058A-8F53-4C64-855C-9924F2825BEC}" type="presParOf" srcId="{D5CC5389-F764-44D5-AB78-BF401F14AA2C}" destId="{1C408904-4D9E-4994-874D-3F9E91B4B609}" srcOrd="1" destOrd="0" presId="urn:microsoft.com/office/officeart/2005/8/layout/list1"/>
    <dgm:cxn modelId="{3B5ACDCF-20ED-4EE7-9094-59D85FEFEF8A}" type="presParOf" srcId="{FF07ABE6-6830-4BB5-91F1-5E4F8EBF954B}" destId="{7A8D9C86-2C49-485E-8FBE-C249BE34A78D}" srcOrd="13" destOrd="0" presId="urn:microsoft.com/office/officeart/2005/8/layout/list1"/>
    <dgm:cxn modelId="{CC253F0D-7065-43ED-A94E-285B983DA341}" type="presParOf" srcId="{FF07ABE6-6830-4BB5-91F1-5E4F8EBF954B}" destId="{4B83941D-BCD9-4EB4-B0CB-8ED3F2C32EC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224339-3883-4A76-8B8B-44A817757D48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62492D2-3D88-4E1E-82D5-EA938A4D6962}">
      <dgm:prSet phldrT="[Text]" custT="1"/>
      <dgm:spPr/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Indian rainfall distribution is highly uneven across regions and seasons.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5FB8C9-B053-4FF4-966D-95EAA123B692}" type="parTrans" cxnId="{29DFE8A0-D253-494B-90B0-A73023A0ABD5}">
      <dgm:prSet/>
      <dgm:spPr/>
      <dgm:t>
        <a:bodyPr/>
        <a:lstStyle/>
        <a:p>
          <a:endParaRPr lang="en-IN"/>
        </a:p>
      </dgm:t>
    </dgm:pt>
    <dgm:pt modelId="{EE4738EF-B875-4758-B152-8607280EC062}" type="sibTrans" cxnId="{29DFE8A0-D253-494B-90B0-A73023A0ABD5}">
      <dgm:prSet/>
      <dgm:spPr/>
      <dgm:t>
        <a:bodyPr/>
        <a:lstStyle/>
        <a:p>
          <a:endParaRPr lang="en-IN"/>
        </a:p>
      </dgm:t>
    </dgm:pt>
    <dgm:pt modelId="{12BC8319-178C-45FB-822B-18DAE9CEFF95}">
      <dgm:prSet phldrT="[Text]" custT="1"/>
      <dgm:spPr/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The Indian climate remains strongly dependent on monsoon rainfall.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852705-7C58-48F0-A579-E0EE265ECD22}" type="parTrans" cxnId="{DEB8684C-AD1B-4CC3-8A4C-5A1F1A86A51A}">
      <dgm:prSet/>
      <dgm:spPr/>
      <dgm:t>
        <a:bodyPr/>
        <a:lstStyle/>
        <a:p>
          <a:endParaRPr lang="en-IN"/>
        </a:p>
      </dgm:t>
    </dgm:pt>
    <dgm:pt modelId="{FE8FAF75-3222-4778-920D-F0C4B58AEDE6}" type="sibTrans" cxnId="{DEB8684C-AD1B-4CC3-8A4C-5A1F1A86A51A}">
      <dgm:prSet/>
      <dgm:spPr/>
      <dgm:t>
        <a:bodyPr/>
        <a:lstStyle/>
        <a:p>
          <a:endParaRPr lang="en-IN"/>
        </a:p>
      </dgm:t>
    </dgm:pt>
    <dgm:pt modelId="{90B4F80C-C701-40E3-8E31-8D77CCF5E762}">
      <dgm:prSet phldrT="[Text]" custT="1"/>
      <dgm:spPr/>
      <dgm:t>
        <a:bodyPr/>
        <a:lstStyle/>
        <a:p>
          <a:pPr algn="just">
            <a:lnSpc>
              <a:spcPct val="150000"/>
            </a:lnSpc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Historical rainfall analysis helps understand long-term climate variability and regional risks.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53EF82-C914-4819-8E14-B9CA7E76FD4A}" type="parTrans" cxnId="{3C11995F-5B6E-439B-B5C6-6AEFB1FA2BFE}">
      <dgm:prSet/>
      <dgm:spPr/>
      <dgm:t>
        <a:bodyPr/>
        <a:lstStyle/>
        <a:p>
          <a:endParaRPr lang="en-IN"/>
        </a:p>
      </dgm:t>
    </dgm:pt>
    <dgm:pt modelId="{8D0DB6D4-9821-49B9-8CD7-0D887E87742A}" type="sibTrans" cxnId="{3C11995F-5B6E-439B-B5C6-6AEFB1FA2BFE}">
      <dgm:prSet/>
      <dgm:spPr/>
      <dgm:t>
        <a:bodyPr/>
        <a:lstStyle/>
        <a:p>
          <a:endParaRPr lang="en-IN"/>
        </a:p>
      </dgm:t>
    </dgm:pt>
    <dgm:pt modelId="{D5B8BB70-9E67-4DFF-8130-0564C0FEF1AD}" type="pres">
      <dgm:prSet presAssocID="{92224339-3883-4A76-8B8B-44A817757D48}" presName="compositeShape" presStyleCnt="0">
        <dgm:presLayoutVars>
          <dgm:dir/>
          <dgm:resizeHandles/>
        </dgm:presLayoutVars>
      </dgm:prSet>
      <dgm:spPr/>
    </dgm:pt>
    <dgm:pt modelId="{1C9152A3-143F-44D8-9CD2-0AB2528217CD}" type="pres">
      <dgm:prSet presAssocID="{92224339-3883-4A76-8B8B-44A817757D48}" presName="pyramid" presStyleLbl="node1" presStyleIdx="0" presStyleCnt="1"/>
      <dgm:spPr/>
    </dgm:pt>
    <dgm:pt modelId="{857F23FC-9ED8-487B-B143-B3BEE29F0A9D}" type="pres">
      <dgm:prSet presAssocID="{92224339-3883-4A76-8B8B-44A817757D48}" presName="theList" presStyleCnt="0"/>
      <dgm:spPr/>
    </dgm:pt>
    <dgm:pt modelId="{42E9953E-446A-47A9-99F8-B01601159B03}" type="pres">
      <dgm:prSet presAssocID="{B62492D2-3D88-4E1E-82D5-EA938A4D6962}" presName="aNode" presStyleLbl="fgAcc1" presStyleIdx="0" presStyleCnt="3" custScaleY="149565" custLinFactNeighborX="812" custLinFactNeighborY="-82432">
        <dgm:presLayoutVars>
          <dgm:bulletEnabled val="1"/>
        </dgm:presLayoutVars>
      </dgm:prSet>
      <dgm:spPr/>
    </dgm:pt>
    <dgm:pt modelId="{08898A86-0605-456B-A9D6-42C07BFF3E3F}" type="pres">
      <dgm:prSet presAssocID="{B62492D2-3D88-4E1E-82D5-EA938A4D6962}" presName="aSpace" presStyleCnt="0"/>
      <dgm:spPr/>
    </dgm:pt>
    <dgm:pt modelId="{A2119FC6-2A02-42C0-9B3C-0B697CC112B9}" type="pres">
      <dgm:prSet presAssocID="{12BC8319-178C-45FB-822B-18DAE9CEFF95}" presName="aNode" presStyleLbl="fgAcc1" presStyleIdx="1" presStyleCnt="3" custScaleY="130076" custLinFactY="8339" custLinFactNeighborX="1626" custLinFactNeighborY="100000">
        <dgm:presLayoutVars>
          <dgm:bulletEnabled val="1"/>
        </dgm:presLayoutVars>
      </dgm:prSet>
      <dgm:spPr/>
    </dgm:pt>
    <dgm:pt modelId="{7ED38A85-21AB-4B5F-920E-B24C13268D3A}" type="pres">
      <dgm:prSet presAssocID="{12BC8319-178C-45FB-822B-18DAE9CEFF95}" presName="aSpace" presStyleCnt="0"/>
      <dgm:spPr/>
    </dgm:pt>
    <dgm:pt modelId="{D2519445-1048-4BAD-BE12-2AA4B3D8A6BA}" type="pres">
      <dgm:prSet presAssocID="{90B4F80C-C701-40E3-8E31-8D77CCF5E762}" presName="aNode" presStyleLbl="fgAcc1" presStyleIdx="2" presStyleCnt="3" custScaleY="159389" custLinFactY="32163" custLinFactNeighborX="-863" custLinFactNeighborY="100000">
        <dgm:presLayoutVars>
          <dgm:bulletEnabled val="1"/>
        </dgm:presLayoutVars>
      </dgm:prSet>
      <dgm:spPr/>
    </dgm:pt>
    <dgm:pt modelId="{96580E72-1C6B-4F17-A30C-7843C0ECDC55}" type="pres">
      <dgm:prSet presAssocID="{90B4F80C-C701-40E3-8E31-8D77CCF5E762}" presName="aSpace" presStyleCnt="0"/>
      <dgm:spPr/>
    </dgm:pt>
  </dgm:ptLst>
  <dgm:cxnLst>
    <dgm:cxn modelId="{63F24E3E-D117-4EAA-A15C-88F7B4CEA4EF}" type="presOf" srcId="{90B4F80C-C701-40E3-8E31-8D77CCF5E762}" destId="{D2519445-1048-4BAD-BE12-2AA4B3D8A6BA}" srcOrd="0" destOrd="0" presId="urn:microsoft.com/office/officeart/2005/8/layout/pyramid2"/>
    <dgm:cxn modelId="{3C11995F-5B6E-439B-B5C6-6AEFB1FA2BFE}" srcId="{92224339-3883-4A76-8B8B-44A817757D48}" destId="{90B4F80C-C701-40E3-8E31-8D77CCF5E762}" srcOrd="2" destOrd="0" parTransId="{4753EF82-C914-4819-8E14-B9CA7E76FD4A}" sibTransId="{8D0DB6D4-9821-49B9-8CD7-0D887E87742A}"/>
    <dgm:cxn modelId="{CE6A9048-C6A8-46CB-BB6D-DEACE0C08DAF}" type="presOf" srcId="{12BC8319-178C-45FB-822B-18DAE9CEFF95}" destId="{A2119FC6-2A02-42C0-9B3C-0B697CC112B9}" srcOrd="0" destOrd="0" presId="urn:microsoft.com/office/officeart/2005/8/layout/pyramid2"/>
    <dgm:cxn modelId="{DEB8684C-AD1B-4CC3-8A4C-5A1F1A86A51A}" srcId="{92224339-3883-4A76-8B8B-44A817757D48}" destId="{12BC8319-178C-45FB-822B-18DAE9CEFF95}" srcOrd="1" destOrd="0" parTransId="{DC852705-7C58-48F0-A579-E0EE265ECD22}" sibTransId="{FE8FAF75-3222-4778-920D-F0C4B58AEDE6}"/>
    <dgm:cxn modelId="{F3B11D78-F110-47A3-9138-8B18BCD09F88}" type="presOf" srcId="{92224339-3883-4A76-8B8B-44A817757D48}" destId="{D5B8BB70-9E67-4DFF-8130-0564C0FEF1AD}" srcOrd="0" destOrd="0" presId="urn:microsoft.com/office/officeart/2005/8/layout/pyramid2"/>
    <dgm:cxn modelId="{29DFE8A0-D253-494B-90B0-A73023A0ABD5}" srcId="{92224339-3883-4A76-8B8B-44A817757D48}" destId="{B62492D2-3D88-4E1E-82D5-EA938A4D6962}" srcOrd="0" destOrd="0" parTransId="{615FB8C9-B053-4FF4-966D-95EAA123B692}" sibTransId="{EE4738EF-B875-4758-B152-8607280EC062}"/>
    <dgm:cxn modelId="{B4EA21DC-465A-4884-87B0-760CB5719800}" type="presOf" srcId="{B62492D2-3D88-4E1E-82D5-EA938A4D6962}" destId="{42E9953E-446A-47A9-99F8-B01601159B03}" srcOrd="0" destOrd="0" presId="urn:microsoft.com/office/officeart/2005/8/layout/pyramid2"/>
    <dgm:cxn modelId="{EAC8D7FA-20C2-45E1-B7EE-845A3DB63C18}" type="presParOf" srcId="{D5B8BB70-9E67-4DFF-8130-0564C0FEF1AD}" destId="{1C9152A3-143F-44D8-9CD2-0AB2528217CD}" srcOrd="0" destOrd="0" presId="urn:microsoft.com/office/officeart/2005/8/layout/pyramid2"/>
    <dgm:cxn modelId="{DC244627-81B7-43E8-A91B-8D6E3754F979}" type="presParOf" srcId="{D5B8BB70-9E67-4DFF-8130-0564C0FEF1AD}" destId="{857F23FC-9ED8-487B-B143-B3BEE29F0A9D}" srcOrd="1" destOrd="0" presId="urn:microsoft.com/office/officeart/2005/8/layout/pyramid2"/>
    <dgm:cxn modelId="{E58E993C-CAE1-4034-9E4B-3EE4DD634B6E}" type="presParOf" srcId="{857F23FC-9ED8-487B-B143-B3BEE29F0A9D}" destId="{42E9953E-446A-47A9-99F8-B01601159B03}" srcOrd="0" destOrd="0" presId="urn:microsoft.com/office/officeart/2005/8/layout/pyramid2"/>
    <dgm:cxn modelId="{C952E87A-041A-46B8-A446-540159E51B76}" type="presParOf" srcId="{857F23FC-9ED8-487B-B143-B3BEE29F0A9D}" destId="{08898A86-0605-456B-A9D6-42C07BFF3E3F}" srcOrd="1" destOrd="0" presId="urn:microsoft.com/office/officeart/2005/8/layout/pyramid2"/>
    <dgm:cxn modelId="{E1102516-0965-4595-A9E5-F3FFD1E257AC}" type="presParOf" srcId="{857F23FC-9ED8-487B-B143-B3BEE29F0A9D}" destId="{A2119FC6-2A02-42C0-9B3C-0B697CC112B9}" srcOrd="2" destOrd="0" presId="urn:microsoft.com/office/officeart/2005/8/layout/pyramid2"/>
    <dgm:cxn modelId="{77D44994-D7BD-4F5B-A2F2-1B92FBFC5414}" type="presParOf" srcId="{857F23FC-9ED8-487B-B143-B3BEE29F0A9D}" destId="{7ED38A85-21AB-4B5F-920E-B24C13268D3A}" srcOrd="3" destOrd="0" presId="urn:microsoft.com/office/officeart/2005/8/layout/pyramid2"/>
    <dgm:cxn modelId="{8E6AD5CC-2567-410E-93A9-80CBC2F057E8}" type="presParOf" srcId="{857F23FC-9ED8-487B-B143-B3BEE29F0A9D}" destId="{D2519445-1048-4BAD-BE12-2AA4B3D8A6BA}" srcOrd="4" destOrd="0" presId="urn:microsoft.com/office/officeart/2005/8/layout/pyramid2"/>
    <dgm:cxn modelId="{80C5F33D-FB83-4A1C-BA80-76D5F46AA728}" type="presParOf" srcId="{857F23FC-9ED8-487B-B143-B3BEE29F0A9D}" destId="{96580E72-1C6B-4F17-A30C-7843C0ECDC55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AAA4B-C1C5-4760-90C2-EC697FD5616A}">
      <dsp:nvSpPr>
        <dsp:cNvPr id="0" name=""/>
        <dsp:cNvSpPr/>
      </dsp:nvSpPr>
      <dsp:spPr>
        <a:xfrm>
          <a:off x="5151480" y="2899560"/>
          <a:ext cx="994302" cy="2137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97151" y="0"/>
              </a:lnTo>
              <a:lnTo>
                <a:pt x="497151" y="2137750"/>
              </a:lnTo>
              <a:lnTo>
                <a:pt x="994302" y="21377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F7CBF7-B3C8-4475-B7D0-126947CC36BA}">
      <dsp:nvSpPr>
        <dsp:cNvPr id="0" name=""/>
        <dsp:cNvSpPr/>
      </dsp:nvSpPr>
      <dsp:spPr>
        <a:xfrm>
          <a:off x="5151480" y="2853840"/>
          <a:ext cx="9943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4302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C56DC-06A3-43F8-9EC3-BDA15440E2E7}">
      <dsp:nvSpPr>
        <dsp:cNvPr id="0" name=""/>
        <dsp:cNvSpPr/>
      </dsp:nvSpPr>
      <dsp:spPr>
        <a:xfrm>
          <a:off x="5151480" y="761809"/>
          <a:ext cx="994302" cy="2137750"/>
        </a:xfrm>
        <a:custGeom>
          <a:avLst/>
          <a:gdLst/>
          <a:ahLst/>
          <a:cxnLst/>
          <a:rect l="0" t="0" r="0" b="0"/>
          <a:pathLst>
            <a:path>
              <a:moveTo>
                <a:pt x="0" y="2137750"/>
              </a:moveTo>
              <a:lnTo>
                <a:pt x="497151" y="2137750"/>
              </a:lnTo>
              <a:lnTo>
                <a:pt x="497151" y="0"/>
              </a:lnTo>
              <a:lnTo>
                <a:pt x="99430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657EB-BEBB-4D29-8078-B4DEFFB96230}">
      <dsp:nvSpPr>
        <dsp:cNvPr id="0" name=""/>
        <dsp:cNvSpPr/>
      </dsp:nvSpPr>
      <dsp:spPr>
        <a:xfrm>
          <a:off x="179967" y="2141404"/>
          <a:ext cx="4971513" cy="1516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analyze rainfall patterns in India and understand regional as well as seasonal rainfall behavior.</a:t>
          </a:r>
          <a:endParaRPr lang="en-IN" sz="2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9967" y="2141404"/>
        <a:ext cx="4971513" cy="1516311"/>
      </dsp:txXfrm>
    </dsp:sp>
    <dsp:sp modelId="{1ABEFF8E-3D48-456A-9CE8-E2F23D1EA71B}">
      <dsp:nvSpPr>
        <dsp:cNvPr id="0" name=""/>
        <dsp:cNvSpPr/>
      </dsp:nvSpPr>
      <dsp:spPr>
        <a:xfrm>
          <a:off x="6145783" y="3654"/>
          <a:ext cx="4971513" cy="1516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Which Indian subdivisions receive the highest and lowest annual rainfall?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45783" y="3654"/>
        <a:ext cx="4971513" cy="1516311"/>
      </dsp:txXfrm>
    </dsp:sp>
    <dsp:sp modelId="{1A21E3E5-672A-4E06-9054-B26E9C1498FC}">
      <dsp:nvSpPr>
        <dsp:cNvPr id="0" name=""/>
        <dsp:cNvSpPr/>
      </dsp:nvSpPr>
      <dsp:spPr>
        <a:xfrm>
          <a:off x="6145783" y="2141404"/>
          <a:ext cx="4971513" cy="1516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How has rainfall changed across different decades in India?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45783" y="2141404"/>
        <a:ext cx="4971513" cy="1516311"/>
      </dsp:txXfrm>
    </dsp:sp>
    <dsp:sp modelId="{256224B6-03E5-4C0E-9B13-4B5056F15A1E}">
      <dsp:nvSpPr>
        <dsp:cNvPr id="0" name=""/>
        <dsp:cNvSpPr/>
      </dsp:nvSpPr>
      <dsp:spPr>
        <a:xfrm>
          <a:off x="6145783" y="4279155"/>
          <a:ext cx="4971513" cy="15163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How strongly is India’s annual rainfall dependent on the monsoon season?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45783" y="4279155"/>
        <a:ext cx="4971513" cy="15163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A6244-06E6-4197-8A30-40A8EA964961}">
      <dsp:nvSpPr>
        <dsp:cNvPr id="0" name=""/>
        <dsp:cNvSpPr/>
      </dsp:nvSpPr>
      <dsp:spPr>
        <a:xfrm>
          <a:off x="0" y="511533"/>
          <a:ext cx="112972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18828-61C0-45B1-899A-0AD282F2D8EF}">
      <dsp:nvSpPr>
        <dsp:cNvPr id="0" name=""/>
        <dsp:cNvSpPr/>
      </dsp:nvSpPr>
      <dsp:spPr>
        <a:xfrm>
          <a:off x="564863" y="68733"/>
          <a:ext cx="7908084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907" tIns="0" rIns="298907" bIns="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recommended to improve </a:t>
          </a:r>
          <a:r>
            <a:rPr lang="en-US" sz="20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water harvesting and storage systems</a:t>
          </a: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 low-rainfall regions.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8094" y="111964"/>
        <a:ext cx="7821622" cy="799138"/>
      </dsp:txXfrm>
    </dsp:sp>
    <dsp:sp modelId="{87DF86D7-6EA6-46E1-9DE6-1E9FC58A4909}">
      <dsp:nvSpPr>
        <dsp:cNvPr id="0" name=""/>
        <dsp:cNvSpPr/>
      </dsp:nvSpPr>
      <dsp:spPr>
        <a:xfrm>
          <a:off x="0" y="1872333"/>
          <a:ext cx="112972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39576-E94B-4C98-9E60-4F59EEBDFFA1}">
      <dsp:nvSpPr>
        <dsp:cNvPr id="0" name=""/>
        <dsp:cNvSpPr/>
      </dsp:nvSpPr>
      <dsp:spPr>
        <a:xfrm>
          <a:off x="564863" y="1429533"/>
          <a:ext cx="7908084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907" tIns="0" rIns="298907" bIns="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suggested to </a:t>
          </a:r>
          <a:r>
            <a:rPr lang="en-US" sz="20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strengthen flood preparedness</a:t>
          </a: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 high-rainfall and highly variable rainfall zones.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8094" y="1472764"/>
        <a:ext cx="7821622" cy="799138"/>
      </dsp:txXfrm>
    </dsp:sp>
    <dsp:sp modelId="{42804405-541B-46CA-9B9E-D557D896B985}">
      <dsp:nvSpPr>
        <dsp:cNvPr id="0" name=""/>
        <dsp:cNvSpPr/>
      </dsp:nvSpPr>
      <dsp:spPr>
        <a:xfrm>
          <a:off x="0" y="3233133"/>
          <a:ext cx="112972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E0BD4-E299-4C03-94F9-CAEC6DBCB2A8}">
      <dsp:nvSpPr>
        <dsp:cNvPr id="0" name=""/>
        <dsp:cNvSpPr/>
      </dsp:nvSpPr>
      <dsp:spPr>
        <a:xfrm>
          <a:off x="564863" y="2790333"/>
          <a:ext cx="7908084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907" tIns="0" rIns="298907" bIns="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also endorsed to </a:t>
          </a:r>
          <a:r>
            <a:rPr lang="en-US" sz="20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rainfall pattern analysis </a:t>
          </a: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 agricultural planning and crop selection.</a:t>
          </a:r>
          <a:endParaRPr lang="en-IN" sz="20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8094" y="2833564"/>
        <a:ext cx="7821622" cy="799138"/>
      </dsp:txXfrm>
    </dsp:sp>
    <dsp:sp modelId="{4B83941D-BCD9-4EB4-B0CB-8ED3F2C32EC8}">
      <dsp:nvSpPr>
        <dsp:cNvPr id="0" name=""/>
        <dsp:cNvSpPr/>
      </dsp:nvSpPr>
      <dsp:spPr>
        <a:xfrm>
          <a:off x="0" y="4593933"/>
          <a:ext cx="112972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408904-4D9E-4994-874D-3F9E91B4B609}">
      <dsp:nvSpPr>
        <dsp:cNvPr id="0" name=""/>
        <dsp:cNvSpPr/>
      </dsp:nvSpPr>
      <dsp:spPr>
        <a:xfrm>
          <a:off x="564863" y="4151133"/>
          <a:ext cx="7908084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907" tIns="0" rIns="298907" bIns="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It is also encouraged to focus on </a:t>
          </a:r>
          <a:r>
            <a:rPr lang="en-US" sz="20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region-specific climate adaptation and water management strategies.</a:t>
          </a:r>
          <a:endParaRPr lang="en-IN" sz="2000" b="1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8094" y="4194364"/>
        <a:ext cx="7821622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152A3-143F-44D8-9CD2-0AB2528217CD}">
      <dsp:nvSpPr>
        <dsp:cNvPr id="0" name=""/>
        <dsp:cNvSpPr/>
      </dsp:nvSpPr>
      <dsp:spPr>
        <a:xfrm>
          <a:off x="59020" y="0"/>
          <a:ext cx="5585816" cy="558581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9953E-446A-47A9-99F8-B01601159B03}">
      <dsp:nvSpPr>
        <dsp:cNvPr id="0" name=""/>
        <dsp:cNvSpPr/>
      </dsp:nvSpPr>
      <dsp:spPr>
        <a:xfrm>
          <a:off x="2881410" y="463439"/>
          <a:ext cx="3630780" cy="14016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Indian rainfall distribution is highly uneven across regions and seasons.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49833" y="531862"/>
        <a:ext cx="3493934" cy="1264804"/>
      </dsp:txXfrm>
    </dsp:sp>
    <dsp:sp modelId="{A2119FC6-2A02-42C0-9B3C-0B697CC112B9}">
      <dsp:nvSpPr>
        <dsp:cNvPr id="0" name=""/>
        <dsp:cNvSpPr/>
      </dsp:nvSpPr>
      <dsp:spPr>
        <a:xfrm>
          <a:off x="2910948" y="2274091"/>
          <a:ext cx="3630780" cy="121900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Indian climate remains strongly dependent on monsoon rainfall.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70455" y="2333598"/>
        <a:ext cx="3511766" cy="1099995"/>
      </dsp:txXfrm>
    </dsp:sp>
    <dsp:sp modelId="{D2519445-1048-4BAD-BE12-2AA4B3D8A6BA}">
      <dsp:nvSpPr>
        <dsp:cNvPr id="0" name=""/>
        <dsp:cNvSpPr/>
      </dsp:nvSpPr>
      <dsp:spPr>
        <a:xfrm>
          <a:off x="2820594" y="3833511"/>
          <a:ext cx="3630780" cy="149371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Historical rainfall analysis helps understand long-term climate variability and regional risks.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93511" y="3906428"/>
        <a:ext cx="3484946" cy="1347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30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51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2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83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8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06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4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86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29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0246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584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320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788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83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87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98F5-0016-1CA0-146B-7AE28771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086"/>
            <a:ext cx="10515600" cy="734002"/>
          </a:xfrm>
        </p:spPr>
        <p:txBody>
          <a:bodyPr/>
          <a:lstStyle>
            <a:lvl1pPr algn="ctr">
              <a:lnSpc>
                <a:spcPct val="150000"/>
              </a:lnSpc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9F8F-1AF9-061E-C8EF-59F170CC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A3E7-AADF-E8F5-C436-30DD3DA8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AA9AB-6DBF-FF1B-0CED-53594980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BB67-4BF0-815C-8B79-141EC8A3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D0A377-A048-A216-C4F6-B7F1FC0110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1713" y="1006475"/>
            <a:ext cx="914400" cy="91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55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40A1F-BE88-4A23-8EDD-65D84CADE681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D878F-2DD8-47A5-B293-3CF32CCF5A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136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7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7CC778-8945-0692-AD23-F1B1E1190ACC}"/>
              </a:ext>
            </a:extLst>
          </p:cNvPr>
          <p:cNvSpPr/>
          <p:nvPr/>
        </p:nvSpPr>
        <p:spPr>
          <a:xfrm>
            <a:off x="2271252" y="304800"/>
            <a:ext cx="7118553" cy="21198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India-Rainfall-Analysis-1901-2015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8ED08-8AB3-37E5-F404-8D952EBDA781}"/>
              </a:ext>
            </a:extLst>
          </p:cNvPr>
          <p:cNvSpPr txBox="1"/>
          <p:nvPr/>
        </p:nvSpPr>
        <p:spPr>
          <a:xfrm>
            <a:off x="2979174" y="4335001"/>
            <a:ext cx="6096000" cy="234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DEBARUN  BANERJEE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WEBSKITTERS  ACADEMY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 ANALYTICS  BATCH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 ID: WTS-ACDMY-7979-5280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  WAPL30052520769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05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A80B-3E6C-7914-B232-100464FA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A5D6E15-71DA-6E31-FC67-FF1E9D6510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1905" y="1944430"/>
            <a:ext cx="6196379" cy="373031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India is heavily dependent on rainfall for agriculture, water resources, and overall climate balance.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This project analyzes historical rainfall trends across different Indian subdivisions and districts.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study focuses on understanding rainfall distribution, seasonal dependency, and long-term variability patterns.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main aim is to derive useful insights from rainfall data for better climate awareness and regional planning. </a:t>
            </a:r>
          </a:p>
        </p:txBody>
      </p:sp>
      <p:pic>
        <p:nvPicPr>
          <p:cNvPr id="1028" name="Picture 4" descr="Adobe Stock">
            <a:extLst>
              <a:ext uri="{FF2B5EF4-FFF2-40B4-BE49-F238E27FC236}">
                <a16:creationId xmlns:a16="http://schemas.microsoft.com/office/drawing/2014/main" id="{A2C179A4-853C-101E-5EBA-620008546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44" y="2699569"/>
            <a:ext cx="3677402" cy="23640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91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2436-531B-4C9F-3586-C869AC69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"/>
            <a:ext cx="10515600" cy="7340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About the Dataset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5FB98A4-D3FF-CCF4-4C74-3ECADB62E2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6084" y="777201"/>
            <a:ext cx="5385619" cy="603864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datasets were downloaded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contain historical rainfall records of India.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rainfall in </a:t>
            </a:r>
            <a:r>
              <a:rPr lang="en-US" alt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ndia 1901-2015.csv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4116 rows and 19 columns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covering subdivision-wise monthly and annual rainfall data.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district wise rainfall normal.csv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641 rows and 19 columns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district-level normal rainfall patterns.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datasets are useful for studying long-term rainfall trends, seasonal distribution, and regional comparisons.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4025EB-DDE3-FB5F-EAC1-7E5D0649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8865"/>
            <a:ext cx="5802137" cy="1989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016E65-9E59-E5B9-EA61-91AF7413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29269"/>
            <a:ext cx="5909187" cy="19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0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D5E1-0B10-4BDB-C856-181D7A24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Study Objectives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D988D98-CE3B-A991-D190-8C98A60E1C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798" y="1877007"/>
            <a:ext cx="5594557" cy="373031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historical rainfall trends in India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1901 to 2015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rainfall distribution across Indian subdivisions and districts.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seasonal rainfall dependency, especially the contribution of monsoon rainfall.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rainfall variability and detect regions with unstable rainfall patterns.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684F6-2505-462A-DEEE-363636BC6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519" y="2400147"/>
            <a:ext cx="3588770" cy="23881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950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A890-5065-0AEB-BAE9-6636C684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40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Problem Statements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2DED173-88EF-2439-E2A7-ADFB5CBB6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174464"/>
              </p:ext>
            </p:extLst>
          </p:nvPr>
        </p:nvGraphicFramePr>
        <p:xfrm>
          <a:off x="452284" y="719666"/>
          <a:ext cx="11297264" cy="5799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EE75A7-0CD4-91B7-5C64-65148D09D2FA}"/>
              </a:ext>
            </a:extLst>
          </p:cNvPr>
          <p:cNvCxnSpPr/>
          <p:nvPr/>
        </p:nvCxnSpPr>
        <p:spPr>
          <a:xfrm flipV="1">
            <a:off x="5633884" y="1504335"/>
            <a:ext cx="934064" cy="215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C49AC0-D36A-7C24-B00B-3C7B34A72FB5}"/>
              </a:ext>
            </a:extLst>
          </p:cNvPr>
          <p:cNvCxnSpPr/>
          <p:nvPr/>
        </p:nvCxnSpPr>
        <p:spPr>
          <a:xfrm>
            <a:off x="5614219" y="3657600"/>
            <a:ext cx="963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BA6C56-80DC-808D-9231-8BDC649D35FC}"/>
              </a:ext>
            </a:extLst>
          </p:cNvPr>
          <p:cNvCxnSpPr/>
          <p:nvPr/>
        </p:nvCxnSpPr>
        <p:spPr>
          <a:xfrm>
            <a:off x="5633884" y="3657600"/>
            <a:ext cx="934064" cy="196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10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03DC-D9D6-896B-6EC1-3950BEC2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26"/>
            <a:ext cx="10515600" cy="7340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Average Annual Rainfall Trend (1901–2015)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D7DBFC-A369-E744-BD34-2ABE377CB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204" y="1455175"/>
            <a:ext cx="6346071" cy="33833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A1A571-7A56-D17E-A829-8E55BDE50AAE}"/>
              </a:ext>
            </a:extLst>
          </p:cNvPr>
          <p:cNvSpPr txBox="1"/>
          <p:nvPr/>
        </p:nvSpPr>
        <p:spPr>
          <a:xfrm>
            <a:off x="108156" y="819359"/>
            <a:ext cx="5122606" cy="60386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India's annual rainfall swung between ~1,150 mm and ~1,720 mm over 115 years — a 570 mm range that makes "average" rainfall almost meaningless as a planning metric.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wettest year was ~1961 (~1,720 mm) and the driest followed just 4 years later (~1,150 mm) — proof that India's rainfall has no memory.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Post-2000 values consistently hover near the lower band of 1,250–1,300 mm, quietly suggesting a drying trend that nobody in power seems to be talking about.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21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4E3F-885D-83C6-10E5-FEB08434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 Districts by January Rainfall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1FE76-4E67-D5E5-093A-50498B3E5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554" y="1546611"/>
            <a:ext cx="5329017" cy="3764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71D58A-3AA4-5363-07F4-627F2EA98B77}"/>
              </a:ext>
            </a:extLst>
          </p:cNvPr>
          <p:cNvSpPr txBox="1"/>
          <p:nvPr/>
        </p:nvSpPr>
        <p:spPr>
          <a:xfrm>
            <a:off x="199916" y="1025501"/>
            <a:ext cx="6096000" cy="5576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India's driest month, only 3 districts register meaningful rainfall — Jammu &amp; Kashmir (~145 mm), Himachal Pradesh (~133 mm), and Andaman &amp; Nicobar (~107 mm) — the rest of India is essentially a desert in January.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J&amp;K topping the January chart is counterintuitive until you realize western disturbances dump winter precipitation on the Himalayas while the rest of India basks in dry cold.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steep drop-off between the 3 bars tells the real story — no 4th region even comes close, making winter rain an extreme geographic privilege in India.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7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1116-8101-4992-F9B9-F3279B24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Monsoon vs Annual Rainfall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3550B-D9EA-0C2D-C53E-0752DEFA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02" y="1347019"/>
            <a:ext cx="5569233" cy="43272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48110-8516-A2A7-8B63-8160644773B9}"/>
              </a:ext>
            </a:extLst>
          </p:cNvPr>
          <p:cNvSpPr txBox="1"/>
          <p:nvPr/>
        </p:nvSpPr>
        <p:spPr>
          <a:xfrm>
            <a:off x="117357" y="1004064"/>
            <a:ext cx="6096000" cy="55758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tight diagonal cluster confirms what farmers have known for centuries: monsoon rainfall is annual rainfall — the two are almost the same number with a different label.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districts sit in the 500–2,500 mm monsoon range mapping to 1,000–3,500 mm annual — a near 1:1 relationship that exposes India's terrifying dependence on 4 months.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outliers pushing past 6,000 mm annually are the Northeast and Western Ghats pockets — they live in a completely different hydrological reality from the rest of the country.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383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65EF-89C4-172A-0491-6E4DAED2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Average Monthly Rainfall 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3A430-878C-B9BE-E054-D902BA950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977" y="1665068"/>
            <a:ext cx="5814743" cy="32689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A9DAD-B194-795D-F0A8-237D4150EFAC}"/>
              </a:ext>
            </a:extLst>
          </p:cNvPr>
          <p:cNvSpPr txBox="1"/>
          <p:nvPr/>
        </p:nvSpPr>
        <p:spPr>
          <a:xfrm>
            <a:off x="144280" y="1187938"/>
            <a:ext cx="5575566" cy="5576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alone delivers ~348 mm — more than the combined total of January through May (~215 mm), which means a single monsoon month outweighs 5 pre-monsoon months.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cliff-drop after September is brutal — October halves to ~96 mm, November crashes to ~40 mm, December flatlines at ~20 mm — the monsoon doesn't retreat, it vanishes.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essentially looks like a mountain with one sharp peak — visually confirming that India's water calendar has one season that matters and eleven that don't.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89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D28F-4615-CF83-DCC3-4B7CA612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Distribution of Annual Rainfall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DAA97-F79D-2159-8244-5F36D8DF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521" y="1737333"/>
            <a:ext cx="5257466" cy="33833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133FE3-D129-864F-6801-43C475A7F891}"/>
              </a:ext>
            </a:extLst>
          </p:cNvPr>
          <p:cNvSpPr txBox="1"/>
          <p:nvPr/>
        </p:nvSpPr>
        <p:spPr>
          <a:xfrm>
            <a:off x="204013" y="970417"/>
            <a:ext cx="6096000" cy="55769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peaks sharply at 800–1,000 mm with nearly 700 data points — this is what a "normal" Indian district looks like, perpetually teetering on the edge of water stress.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right-skewed long tail stretching to 6,500 mm means a small number of extremely wet regions are pulling India's national average upward, flattering the true experience of most districts.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subtle secondary hump at 2,400–3,000 mm reveals two distinct rainfall worlds within one country — the dry majority and the drenched coastal-northeast minority living on different planets climatically.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38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2DCD-999F-1E37-ED0E-880772DB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94"/>
            <a:ext cx="10515600" cy="7340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 10 Most Variable Rainfall Subdivisions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32EB53-ACF2-F6FF-53C0-DB20E7042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226" y="1848465"/>
            <a:ext cx="5262486" cy="3861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925F96-1C66-E44E-5181-C6F66D658400}"/>
              </a:ext>
            </a:extLst>
          </p:cNvPr>
          <p:cNvSpPr txBox="1"/>
          <p:nvPr/>
        </p:nvSpPr>
        <p:spPr>
          <a:xfrm>
            <a:off x="294967" y="797592"/>
            <a:ext cx="6096000" cy="60386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Arunachal Pradesh stands alone with a standard deviation exceeding 1,050 mm — its year-to-year rainfall swings more than the entire annual total of many Indian districts.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 5 regions — Konkan &amp; Goa, Coastal Karnataka, Andaman &amp; Nicobar, Naga-Mani-Mizo-Tripura, Kerala — all cluster between 420–490 mm SD, revealing that high rainfall and high volatility are inseparable twins in India.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single region on this list is coastal or Northeastern — inland India may be drier, but at least it's predictably drier; these regions get the rain and the chaos.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6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C048-DFFD-D165-E4EE-F8B7BBF9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Season-wise Average Rainfall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A94DF-96ED-BAAB-55A4-D46E798E1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071" y="1906467"/>
            <a:ext cx="5076991" cy="3944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1D7D30-AC03-96AE-ED68-5A7543CB1516}"/>
              </a:ext>
            </a:extLst>
          </p:cNvPr>
          <p:cNvSpPr txBox="1"/>
          <p:nvPr/>
        </p:nvSpPr>
        <p:spPr>
          <a:xfrm>
            <a:off x="385916" y="1280085"/>
            <a:ext cx="6096000" cy="511531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Jun–Sep bar towers at ~1,060 mm while the other three seasons combined barely cross 360 mm — this isn't a seasonal distribution, it's a seasonal dictatorship.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Pre-monsoon (Mar–May) and post-monsoon (Oct–Dec) are nearly identical at ~155–160 mm — symmetrical shoulders flanking a giant, making the monsoon look even more dominant by comparison.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(Jan–Feb) contributes a negligible ~45 mm — statistically, India has one real wet season and three dry ones dressed up with different names.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307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8093-5060-1360-9C95-5939389E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94"/>
            <a:ext cx="10515600" cy="734002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Top 10 Wettest Subdivisions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0350D3-9CCA-20E8-53EA-94FA6CFED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28" y="1887793"/>
            <a:ext cx="5105400" cy="3669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38F693-E58A-4E1B-A644-F412BDCF88FD}"/>
              </a:ext>
            </a:extLst>
          </p:cNvPr>
          <p:cNvSpPr txBox="1"/>
          <p:nvPr/>
        </p:nvSpPr>
        <p:spPr>
          <a:xfrm>
            <a:off x="65372" y="953729"/>
            <a:ext cx="6777880" cy="60386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Arunachal Pradesh (~3,420 mm) and Coastal Karnataka (~3,400 mm) lead the list — a Himalayan frontier state and a Western Ghats strip receiving more rain annually than most countries see in a lifetime.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top 7 is split between two geographic features — the Western Ghats (Konkan &amp; Goa, Kerala, Coastal Karnataka) and the Northeast (Arunachal, Assam &amp; Meghalaya, Naga-Mani-Mizo-Tripura, Sub-Himalayan West Bengal &amp; Sikkim) — India's two rain-catching machines.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Gangetic West Bengal at ~1,490 mm barely makes the top 10 — and it's the only Indo-Gangetic Plain entry, a reminder that the most densely farmed region of India is also among the least watered.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96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CBE3-5D3D-14B5-07D6-79A5D036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Insights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AEEEF-A97E-50DB-8F28-AC038112A6D8}"/>
              </a:ext>
            </a:extLst>
          </p:cNvPr>
          <p:cNvSpPr txBox="1"/>
          <p:nvPr/>
        </p:nvSpPr>
        <p:spPr>
          <a:xfrm>
            <a:off x="422788" y="1651819"/>
            <a:ext cx="5584722" cy="46536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Monsoon months (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June–September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contribute the largest share of India’s annual rainfall.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Northeastern and coastal subdivisions show the highest rainfall, while western dry regions receive the least rainfall.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subdivisions show high rainfall variability, indicating unpredictable climate conditions.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Decade-wise analysis suggests fluctuations in rainfall trends rather than a constant pattern. </a:t>
            </a:r>
          </a:p>
        </p:txBody>
      </p:sp>
      <p:pic>
        <p:nvPicPr>
          <p:cNvPr id="7170" name="Picture 2" descr="Insights Stock Photos &amp; HD Images">
            <a:extLst>
              <a:ext uri="{FF2B5EF4-FFF2-40B4-BE49-F238E27FC236}">
                <a16:creationId xmlns:a16="http://schemas.microsoft.com/office/drawing/2014/main" id="{97492300-17ED-1BE6-0395-D60318B44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681" y="2530534"/>
            <a:ext cx="3924740" cy="2611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855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E516-4D24-9A28-191B-A3AFF37E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Recommendations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50559D-C27C-CA68-CAA1-CBBFC4EE2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150666"/>
              </p:ext>
            </p:extLst>
          </p:nvPr>
        </p:nvGraphicFramePr>
        <p:xfrm>
          <a:off x="373626" y="1034298"/>
          <a:ext cx="1129726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859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9950-AE13-8CF2-A9A8-EF0ABC34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101F6F7-7ABC-6CA5-C1FF-B2C456073D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648053"/>
              </p:ext>
            </p:extLst>
          </p:nvPr>
        </p:nvGraphicFramePr>
        <p:xfrm>
          <a:off x="488336" y="827089"/>
          <a:ext cx="6541729" cy="5585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 descr="18,928 Conclusion Stock Photos - Free ...">
            <a:extLst>
              <a:ext uri="{FF2B5EF4-FFF2-40B4-BE49-F238E27FC236}">
                <a16:creationId xmlns:a16="http://schemas.microsoft.com/office/drawing/2014/main" id="{38623345-E000-E497-244B-E185E57AC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558" y="2734442"/>
            <a:ext cx="3248940" cy="21620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56009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427</TotalTime>
  <Words>1257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Trebuchet MS</vt:lpstr>
      <vt:lpstr>Berlin</vt:lpstr>
      <vt:lpstr>PowerPoint Presentation</vt:lpstr>
      <vt:lpstr>Introduction</vt:lpstr>
      <vt:lpstr>About the Dataset</vt:lpstr>
      <vt:lpstr>Study Objectives</vt:lpstr>
      <vt:lpstr>Problem Statements</vt:lpstr>
      <vt:lpstr>Average Annual Rainfall Trend (1901–2015)</vt:lpstr>
      <vt:lpstr>Top Districts by January Rainfall</vt:lpstr>
      <vt:lpstr>Monsoon vs Annual Rainfall</vt:lpstr>
      <vt:lpstr>Average Monthly Rainfall Pattern</vt:lpstr>
      <vt:lpstr>Distribution of Annual Rainfall </vt:lpstr>
      <vt:lpstr>Top 10 Most Variable Rainfall Subdivisions</vt:lpstr>
      <vt:lpstr>Season-wise Average Rainfall</vt:lpstr>
      <vt:lpstr>Top 10 Wettest Subdivisions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Debarun Banerjee</dc:creator>
  <cp:lastModifiedBy>Debarun Banerjee</cp:lastModifiedBy>
  <cp:revision>81</cp:revision>
  <dcterms:created xsi:type="dcterms:W3CDTF">2026-02-27T07:26:35Z</dcterms:created>
  <dcterms:modified xsi:type="dcterms:W3CDTF">2026-05-03T13:19:04Z</dcterms:modified>
</cp:coreProperties>
</file>